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8" d="100"/>
          <a:sy n="78" d="100"/>
        </p:scale>
        <p:origin x="85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6324F"/>
                </a:solidFill>
                <a:latin typeface="Calibri"/>
              </a:defRPr>
            </a:pPr>
            <a:r>
              <a:rPr sz="1250" b="0" i="0" u="none" strike="noStrike">
                <a:solidFill>
                  <a:srgbClr val="16324F"/>
                </a:solidFill>
                <a:latin typeface="Calibri"/>
              </a:rPr>
              <a:t>Sales by Category ($M)</a:t>
            </a:r>
          </a:p>
        </c:rich>
      </c:tx>
      <c:overlay val="0"/>
    </c:title>
    <c:autoTitleDeleted val="0"/>
    <c:plotArea>
      <c:layout/>
      <c:barChart>
        <c:barDir val="col"/>
        <c:grouping val="clustered"/>
        <c:varyColors val="0"/>
        <c:ser>
          <c:idx val="0"/>
          <c:order val="0"/>
          <c:tx>
            <c:strRef>
              <c:f>Sheet1!$B$1</c:f>
              <c:strCache>
                <c:ptCount val="1"/>
                <c:pt idx="0">
                  <c:v>Sales ($M)</c:v>
                </c:pt>
              </c:strCache>
            </c:strRef>
          </c:tx>
          <c:spPr>
            <a:solidFill>
              <a:srgbClr val="0F6E8C"/>
            </a:solidFill>
            <a:effectLst/>
          </c:spPr>
          <c:invertIfNegative val="0"/>
          <c:dLbls>
            <c:numFmt formatCode="0.0" sourceLinked="0"/>
            <c:spPr>
              <a:noFill/>
              <a:ln>
                <a:noFill/>
              </a:ln>
              <a:effectLst/>
            </c:spPr>
            <c:txPr>
              <a:bodyPr/>
              <a:lstStyle/>
              <a:p>
                <a:pPr>
                  <a:defRPr sz="950" b="0" i="0" u="none" strike="noStrike">
                    <a:solidFill>
                      <a:srgbClr val="23324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Clothing</c:v>
                </c:pt>
                <c:pt idx="1">
                  <c:v>Accessories</c:v>
                </c:pt>
                <c:pt idx="2">
                  <c:v>Kitchen</c:v>
                </c:pt>
                <c:pt idx="3">
                  <c:v>Electronics</c:v>
                </c:pt>
                <c:pt idx="4">
                  <c:v>Outdoors</c:v>
                </c:pt>
                <c:pt idx="5">
                  <c:v>Furniture</c:v>
                </c:pt>
              </c:strCache>
            </c:strRef>
          </c:cat>
          <c:val>
            <c:numRef>
              <c:f>Sheet1!$B$2:$B$7</c:f>
              <c:numCache>
                <c:formatCode>General</c:formatCode>
                <c:ptCount val="6"/>
                <c:pt idx="0">
                  <c:v>14.39</c:v>
                </c:pt>
                <c:pt idx="1">
                  <c:v>13.23</c:v>
                </c:pt>
                <c:pt idx="2">
                  <c:v>12.84</c:v>
                </c:pt>
                <c:pt idx="3">
                  <c:v>10.93</c:v>
                </c:pt>
                <c:pt idx="4">
                  <c:v>9.65</c:v>
                </c:pt>
                <c:pt idx="5">
                  <c:v>9.59</c:v>
                </c:pt>
              </c:numCache>
            </c:numRef>
          </c:val>
          <c:extLst>
            <c:ext xmlns:c16="http://schemas.microsoft.com/office/drawing/2014/chart" uri="{C3380CC4-5D6E-409C-BE32-E72D297353CC}">
              <c16:uniqueId val="{00000000-D65A-4B39-896D-0C3C20AF6D1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233240"/>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3E8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6788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6324F"/>
                </a:solidFill>
                <a:latin typeface="Calibri"/>
              </a:defRPr>
            </a:pPr>
            <a:r>
              <a:rPr sz="1250" b="0" i="0" u="none" strike="noStrike">
                <a:solidFill>
                  <a:srgbClr val="16324F"/>
                </a:solidFill>
                <a:latin typeface="Calibri"/>
              </a:rPr>
              <a:t>Profit Margin by Category (%)</a:t>
            </a:r>
          </a:p>
        </c:rich>
      </c:tx>
      <c:overlay val="0"/>
    </c:title>
    <c:autoTitleDeleted val="0"/>
    <c:plotArea>
      <c:layout/>
      <c:barChart>
        <c:barDir val="col"/>
        <c:grouping val="clustered"/>
        <c:varyColors val="0"/>
        <c:ser>
          <c:idx val="0"/>
          <c:order val="0"/>
          <c:tx>
            <c:strRef>
              <c:f>Sheet1!$B$1</c:f>
              <c:strCache>
                <c:ptCount val="1"/>
                <c:pt idx="0">
                  <c:v>Margin %</c:v>
                </c:pt>
              </c:strCache>
            </c:strRef>
          </c:tx>
          <c:spPr>
            <a:solidFill>
              <a:srgbClr val="E08E45"/>
            </a:solidFill>
            <a:effectLst/>
          </c:spPr>
          <c:invertIfNegative val="0"/>
          <c:dLbls>
            <c:numFmt formatCode="0.0&quot;%&quot;" sourceLinked="0"/>
            <c:spPr>
              <a:noFill/>
              <a:ln>
                <a:noFill/>
              </a:ln>
              <a:effectLst/>
            </c:spPr>
            <c:txPr>
              <a:bodyPr/>
              <a:lstStyle/>
              <a:p>
                <a:pPr>
                  <a:defRPr sz="950" b="0" i="0" u="none" strike="noStrike">
                    <a:solidFill>
                      <a:srgbClr val="23324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Clothing</c:v>
                </c:pt>
                <c:pt idx="1">
                  <c:v>Accessories</c:v>
                </c:pt>
                <c:pt idx="2">
                  <c:v>Kitchen</c:v>
                </c:pt>
                <c:pt idx="3">
                  <c:v>Electronics</c:v>
                </c:pt>
                <c:pt idx="4">
                  <c:v>Outdoors</c:v>
                </c:pt>
                <c:pt idx="5">
                  <c:v>Furniture</c:v>
                </c:pt>
              </c:strCache>
            </c:strRef>
          </c:cat>
          <c:val>
            <c:numRef>
              <c:f>Sheet1!$B$2:$B$7</c:f>
              <c:numCache>
                <c:formatCode>General</c:formatCode>
                <c:ptCount val="6"/>
                <c:pt idx="0">
                  <c:v>34.1</c:v>
                </c:pt>
                <c:pt idx="1">
                  <c:v>38.6</c:v>
                </c:pt>
                <c:pt idx="2">
                  <c:v>32.200000000000003</c:v>
                </c:pt>
                <c:pt idx="3">
                  <c:v>39</c:v>
                </c:pt>
                <c:pt idx="4">
                  <c:v>36.1</c:v>
                </c:pt>
                <c:pt idx="5">
                  <c:v>33.4</c:v>
                </c:pt>
              </c:numCache>
            </c:numRef>
          </c:val>
          <c:extLst>
            <c:ext xmlns:c16="http://schemas.microsoft.com/office/drawing/2014/chart" uri="{C3380CC4-5D6E-409C-BE32-E72D297353CC}">
              <c16:uniqueId val="{00000000-83C4-4914-BEB1-345735F9836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233240"/>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3E8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6788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6324F"/>
                </a:solidFill>
                <a:latin typeface="Calibri"/>
              </a:defRPr>
            </a:pPr>
            <a:r>
              <a:rPr sz="1250" b="0" i="0" u="none" strike="noStrike">
                <a:solidFill>
                  <a:srgbClr val="16324F"/>
                </a:solidFill>
                <a:latin typeface="Calibri"/>
              </a:rPr>
              <a:t>Profit Margin: Discounted vs. Full Price</a:t>
            </a:r>
          </a:p>
        </c:rich>
      </c:tx>
      <c:overlay val="0"/>
    </c:title>
    <c:autoTitleDeleted val="0"/>
    <c:plotArea>
      <c:layout/>
      <c:barChart>
        <c:barDir val="col"/>
        <c:grouping val="clustered"/>
        <c:varyColors val="0"/>
        <c:ser>
          <c:idx val="0"/>
          <c:order val="0"/>
          <c:tx>
            <c:strRef>
              <c:f>Sheet1!$B$1</c:f>
              <c:strCache>
                <c:ptCount val="1"/>
                <c:pt idx="0">
                  <c:v>Profit Margin %</c:v>
                </c:pt>
              </c:strCache>
            </c:strRef>
          </c:tx>
          <c:spPr>
            <a:solidFill>
              <a:srgbClr val="0F6E8C"/>
            </a:solidFill>
            <a:effectLst/>
          </c:spPr>
          <c:invertIfNegative val="0"/>
          <c:dPt>
            <c:idx val="0"/>
            <c:invertIfNegative val="0"/>
            <c:bubble3D val="0"/>
            <c:extLst>
              <c:ext xmlns:c16="http://schemas.microsoft.com/office/drawing/2014/chart" uri="{C3380CC4-5D6E-409C-BE32-E72D297353CC}">
                <c16:uniqueId val="{00000001-009D-4CCF-9A0A-674B2380F2B8}"/>
              </c:ext>
            </c:extLst>
          </c:dPt>
          <c:dPt>
            <c:idx val="1"/>
            <c:invertIfNegative val="0"/>
            <c:bubble3D val="0"/>
            <c:spPr>
              <a:solidFill>
                <a:srgbClr val="E08E45"/>
              </a:solidFill>
              <a:effectLst/>
            </c:spPr>
            <c:extLst>
              <c:ext xmlns:c16="http://schemas.microsoft.com/office/drawing/2014/chart" uri="{C3380CC4-5D6E-409C-BE32-E72D297353CC}">
                <c16:uniqueId val="{00000003-009D-4CCF-9A0A-674B2380F2B8}"/>
              </c:ext>
            </c:extLst>
          </c:dPt>
          <c:dLbls>
            <c:numFmt formatCode="0.0&quot;%&quot;" sourceLinked="0"/>
            <c:spPr>
              <a:noFill/>
              <a:ln>
                <a:noFill/>
              </a:ln>
              <a:effectLst/>
            </c:spPr>
            <c:txPr>
              <a:bodyPr/>
              <a:lstStyle/>
              <a:p>
                <a:pPr>
                  <a:defRPr sz="1100" b="0" i="0" u="none" strike="noStrike">
                    <a:solidFill>
                      <a:srgbClr val="23324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No Discount</c:v>
                </c:pt>
                <c:pt idx="1">
                  <c:v>Any Discount Applied</c:v>
                </c:pt>
              </c:strCache>
            </c:strRef>
          </c:cat>
          <c:val>
            <c:numRef>
              <c:f>Sheet1!$B$2:$B$3</c:f>
              <c:numCache>
                <c:formatCode>General</c:formatCode>
                <c:ptCount val="2"/>
                <c:pt idx="0">
                  <c:v>38</c:v>
                </c:pt>
                <c:pt idx="1">
                  <c:v>31.4</c:v>
                </c:pt>
              </c:numCache>
            </c:numRef>
          </c:val>
          <c:extLst>
            <c:ext xmlns:c16="http://schemas.microsoft.com/office/drawing/2014/chart" uri="{C3380CC4-5D6E-409C-BE32-E72D297353CC}">
              <c16:uniqueId val="{00000004-009D-4CCF-9A0A-674B2380F2B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233240"/>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3E8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6788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6324F"/>
                </a:solidFill>
                <a:latin typeface="Calibri"/>
              </a:defRPr>
            </a:pPr>
            <a:r>
              <a:rPr sz="1250" b="0" i="0" u="none" strike="noStrike">
                <a:solidFill>
                  <a:srgbClr val="16324F"/>
                </a:solidFill>
                <a:latin typeface="Calibri"/>
              </a:rPr>
              <a:t>Sales by Channel ($M)</a:t>
            </a:r>
          </a:p>
        </c:rich>
      </c:tx>
      <c:overlay val="0"/>
    </c:title>
    <c:autoTitleDeleted val="0"/>
    <c:plotArea>
      <c:layout/>
      <c:barChart>
        <c:barDir val="col"/>
        <c:grouping val="clustered"/>
        <c:varyColors val="0"/>
        <c:ser>
          <c:idx val="0"/>
          <c:order val="0"/>
          <c:tx>
            <c:strRef>
              <c:f>Sheet1!$B$1</c:f>
              <c:strCache>
                <c:ptCount val="1"/>
                <c:pt idx="0">
                  <c:v>Sales ($M)</c:v>
                </c:pt>
              </c:strCache>
            </c:strRef>
          </c:tx>
          <c:spPr>
            <a:solidFill>
              <a:srgbClr val="5FA8C4"/>
            </a:solidFill>
            <a:effectLst/>
          </c:spPr>
          <c:invertIfNegative val="0"/>
          <c:dLbls>
            <c:numFmt formatCode="0.00" sourceLinked="0"/>
            <c:spPr>
              <a:noFill/>
              <a:ln>
                <a:noFill/>
              </a:ln>
              <a:effectLst/>
            </c:spPr>
            <c:txPr>
              <a:bodyPr/>
              <a:lstStyle/>
              <a:p>
                <a:pPr>
                  <a:defRPr sz="1000" b="0" i="0" u="none" strike="noStrike">
                    <a:solidFill>
                      <a:srgbClr val="23324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Online</c:v>
                </c:pt>
                <c:pt idx="1">
                  <c:v>Partner</c:v>
                </c:pt>
                <c:pt idx="2">
                  <c:v>Phone</c:v>
                </c:pt>
                <c:pt idx="3">
                  <c:v>Retail</c:v>
                </c:pt>
              </c:strCache>
            </c:strRef>
          </c:cat>
          <c:val>
            <c:numRef>
              <c:f>Sheet1!$B$2:$B$5</c:f>
              <c:numCache>
                <c:formatCode>General</c:formatCode>
                <c:ptCount val="4"/>
                <c:pt idx="0">
                  <c:v>17.61</c:v>
                </c:pt>
                <c:pt idx="1">
                  <c:v>17.77</c:v>
                </c:pt>
                <c:pt idx="2">
                  <c:v>17.57</c:v>
                </c:pt>
                <c:pt idx="3">
                  <c:v>17.68</c:v>
                </c:pt>
              </c:numCache>
            </c:numRef>
          </c:val>
          <c:extLst>
            <c:ext xmlns:c16="http://schemas.microsoft.com/office/drawing/2014/chart" uri="{C3380CC4-5D6E-409C-BE32-E72D297353CC}">
              <c16:uniqueId val="{00000000-2D10-44CE-98D3-A2F7FD4CCC8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233240"/>
                </a:solidFill>
                <a:latin typeface="Calibri"/>
              </a:defRPr>
            </a:pPr>
            <a:endParaRPr lang="en-US"/>
          </a:p>
        </c:txPr>
        <c:crossAx val="2094734552"/>
        <c:crosses val="autoZero"/>
        <c:auto val="1"/>
        <c:lblAlgn val="ctr"/>
        <c:lblOffset val="100"/>
        <c:noMultiLvlLbl val="1"/>
      </c:catAx>
      <c:valAx>
        <c:axId val="2094734552"/>
        <c:scaling>
          <c:orientation val="minMax"/>
          <c:max val="18"/>
          <c:min val="17"/>
        </c:scaling>
        <c:delete val="0"/>
        <c:axPos val="l"/>
        <c:majorGridlines>
          <c:spPr>
            <a:ln w="12700" cap="flat">
              <a:solidFill>
                <a:srgbClr val="E3E8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6788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6324F"/>
                </a:solidFill>
                <a:latin typeface="Calibri"/>
              </a:defRPr>
            </a:pPr>
            <a:r>
              <a:rPr sz="1250" b="0" i="0" u="none" strike="noStrike">
                <a:solidFill>
                  <a:srgbClr val="16324F"/>
                </a:solidFill>
                <a:latin typeface="Calibri"/>
              </a:rPr>
              <a:t>Orders by Loyalty Tier (%)</a:t>
            </a:r>
          </a:p>
        </c:rich>
      </c:tx>
      <c:overlay val="0"/>
    </c:title>
    <c:autoTitleDeleted val="0"/>
    <c:plotArea>
      <c:layout/>
      <c:doughnutChart>
        <c:varyColors val="1"/>
        <c:ser>
          <c:idx val="0"/>
          <c:order val="0"/>
          <c:tx>
            <c:strRef>
              <c:f>Sheet1!$B$1</c:f>
              <c:strCache>
                <c:ptCount val="1"/>
                <c:pt idx="0">
                  <c:v>Share of Orders</c:v>
                </c:pt>
              </c:strCache>
            </c:strRef>
          </c:tx>
          <c:spPr>
            <a:solidFill>
              <a:schemeClr val="accent1"/>
            </a:solidFill>
            <a:ln w="9525" cap="flat">
              <a:solidFill>
                <a:srgbClr val="F9F9F9"/>
              </a:solidFill>
              <a:prstDash val="solid"/>
              <a:round/>
            </a:ln>
            <a:effectLst/>
          </c:spPr>
          <c:dPt>
            <c:idx val="0"/>
            <c:bubble3D val="0"/>
            <c:spPr>
              <a:solidFill>
                <a:srgbClr val="0F6E8C"/>
              </a:solidFill>
              <a:effectLst/>
            </c:spPr>
            <c:extLst>
              <c:ext xmlns:c16="http://schemas.microsoft.com/office/drawing/2014/chart" uri="{C3380CC4-5D6E-409C-BE32-E72D297353CC}">
                <c16:uniqueId val="{00000001-2FA3-443F-8A14-9EEAB0F2AE93}"/>
              </c:ext>
            </c:extLst>
          </c:dPt>
          <c:dPt>
            <c:idx val="1"/>
            <c:bubble3D val="0"/>
            <c:spPr>
              <a:solidFill>
                <a:srgbClr val="5FA8C4"/>
              </a:solidFill>
              <a:effectLst/>
            </c:spPr>
            <c:extLst>
              <c:ext xmlns:c16="http://schemas.microsoft.com/office/drawing/2014/chart" uri="{C3380CC4-5D6E-409C-BE32-E72D297353CC}">
                <c16:uniqueId val="{00000003-2FA3-443F-8A14-9EEAB0F2AE93}"/>
              </c:ext>
            </c:extLst>
          </c:dPt>
          <c:dPt>
            <c:idx val="2"/>
            <c:bubble3D val="0"/>
            <c:spPr>
              <a:solidFill>
                <a:srgbClr val="E08E45"/>
              </a:solidFill>
              <a:effectLst/>
            </c:spPr>
            <c:extLst>
              <c:ext xmlns:c16="http://schemas.microsoft.com/office/drawing/2014/chart" uri="{C3380CC4-5D6E-409C-BE32-E72D297353CC}">
                <c16:uniqueId val="{00000005-2FA3-443F-8A14-9EEAB0F2AE93}"/>
              </c:ext>
            </c:extLst>
          </c:dPt>
          <c:dPt>
            <c:idx val="3"/>
            <c:bubble3D val="0"/>
            <c:spPr>
              <a:solidFill>
                <a:srgbClr val="C9DCE4"/>
              </a:solidFill>
              <a:effectLst/>
            </c:spPr>
            <c:extLst>
              <c:ext xmlns:c16="http://schemas.microsoft.com/office/drawing/2014/chart" uri="{C3380CC4-5D6E-409C-BE32-E72D297353CC}">
                <c16:uniqueId val="{00000007-2FA3-443F-8A14-9EEAB0F2AE93}"/>
              </c:ext>
            </c:extLst>
          </c:dPt>
          <c:dLbls>
            <c:dLbl>
              <c:idx val="0"/>
              <c:numFmt formatCode="0.0&quot;%&quot;" sourceLinked="0"/>
              <c:spPr/>
              <c:txPr>
                <a:bodyPr/>
                <a:lstStyle/>
                <a:p>
                  <a:pPr>
                    <a:defRPr sz="105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FA3-443F-8A14-9EEAB0F2AE93}"/>
                </c:ext>
              </c:extLst>
            </c:dLbl>
            <c:dLbl>
              <c:idx val="1"/>
              <c:numFmt formatCode="0.0&quot;%&quot;" sourceLinked="0"/>
              <c:spPr/>
              <c:txPr>
                <a:bodyPr/>
                <a:lstStyle/>
                <a:p>
                  <a:pPr>
                    <a:defRPr sz="105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FA3-443F-8A14-9EEAB0F2AE93}"/>
                </c:ext>
              </c:extLst>
            </c:dLbl>
            <c:dLbl>
              <c:idx val="2"/>
              <c:numFmt formatCode="0.0&quot;%&quot;" sourceLinked="0"/>
              <c:spPr/>
              <c:txPr>
                <a:bodyPr/>
                <a:lstStyle/>
                <a:p>
                  <a:pPr>
                    <a:defRPr sz="105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FA3-443F-8A14-9EEAB0F2AE93}"/>
                </c:ext>
              </c:extLst>
            </c:dLbl>
            <c:dLbl>
              <c:idx val="3"/>
              <c:numFmt formatCode="0.0&quot;%&quot;" sourceLinked="0"/>
              <c:spPr/>
              <c:txPr>
                <a:bodyPr/>
                <a:lstStyle/>
                <a:p>
                  <a:pPr>
                    <a:defRPr sz="105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FA3-443F-8A14-9EEAB0F2AE93}"/>
                </c:ext>
              </c:extLst>
            </c:dLbl>
            <c:numFmt formatCode="0.0&quot;%&quot;"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Bronze</c:v>
                </c:pt>
                <c:pt idx="1">
                  <c:v>Silver</c:v>
                </c:pt>
                <c:pt idx="2">
                  <c:v>Gold</c:v>
                </c:pt>
                <c:pt idx="3">
                  <c:v>Platinum</c:v>
                </c:pt>
              </c:strCache>
            </c:strRef>
          </c:cat>
          <c:val>
            <c:numRef>
              <c:f>Sheet1!$B$2:$B$5</c:f>
              <c:numCache>
                <c:formatCode>General</c:formatCode>
                <c:ptCount val="4"/>
                <c:pt idx="0">
                  <c:v>60.3</c:v>
                </c:pt>
                <c:pt idx="1">
                  <c:v>24.4</c:v>
                </c:pt>
                <c:pt idx="2">
                  <c:v>10.3</c:v>
                </c:pt>
                <c:pt idx="3">
                  <c:v>5</c:v>
                </c:pt>
              </c:numCache>
            </c:numRef>
          </c:val>
          <c:extLst>
            <c:ext xmlns:c16="http://schemas.microsoft.com/office/drawing/2014/chart" uri="{C3380CC4-5D6E-409C-BE32-E72D297353CC}">
              <c16:uniqueId val="{00000008-2FA3-443F-8A14-9EEAB0F2AE93}"/>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1050">
              <a:solidFill>
                <a:srgbClr val="233240"/>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6324F"/>
                </a:solidFill>
                <a:latin typeface="Calibri"/>
              </a:defRPr>
            </a:pPr>
            <a:r>
              <a:rPr sz="1250" b="0" i="0" u="none" strike="noStrike">
                <a:solidFill>
                  <a:srgbClr val="16324F"/>
                </a:solidFill>
                <a:latin typeface="Calibri"/>
              </a:rPr>
              <a:t>Yearly Sales Trend ($M)</a:t>
            </a:r>
          </a:p>
        </c:rich>
      </c:tx>
      <c:overlay val="0"/>
    </c:title>
    <c:autoTitleDeleted val="0"/>
    <c:plotArea>
      <c:layout/>
      <c:lineChart>
        <c:grouping val="standard"/>
        <c:varyColors val="0"/>
        <c:ser>
          <c:idx val="0"/>
          <c:order val="0"/>
          <c:tx>
            <c:strRef>
              <c:f>Sheet1!$B$1</c:f>
              <c:strCache>
                <c:ptCount val="1"/>
                <c:pt idx="0">
                  <c:v>Sales ($M)</c:v>
                </c:pt>
              </c:strCache>
            </c:strRef>
          </c:tx>
          <c:spPr>
            <a:ln w="38100" cap="flat">
              <a:solidFill>
                <a:srgbClr val="0F6E8C"/>
              </a:solidFill>
              <a:prstDash val="solid"/>
              <a:round/>
            </a:ln>
            <a:effectLst/>
          </c:spPr>
          <c:marker>
            <c:symbol val="circle"/>
            <c:size val="6"/>
            <c:spPr>
              <a:solidFill>
                <a:srgbClr val="0F6E8C"/>
              </a:solidFill>
              <a:ln w="9525" cap="flat">
                <a:solidFill>
                  <a:srgbClr val="0F6E8C"/>
                </a:solidFill>
                <a:prstDash val="solid"/>
                <a:round/>
              </a:ln>
              <a:effectLst/>
            </c:spPr>
          </c:marker>
          <c:dLbls>
            <c:numFmt formatCode="0.00" sourceLinked="0"/>
            <c:spPr>
              <a:noFill/>
              <a:ln>
                <a:noFill/>
              </a:ln>
              <a:effectLst/>
            </c:spPr>
            <c:txPr>
              <a:bodyPr/>
              <a:lstStyle/>
              <a:p>
                <a:pPr>
                  <a:defRPr sz="900" b="0" i="0" u="none" strike="noStrike">
                    <a:solidFill>
                      <a:srgbClr val="233240"/>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2018</c:v>
                </c:pt>
                <c:pt idx="1">
                  <c:v>2019</c:v>
                </c:pt>
                <c:pt idx="2">
                  <c:v>2020</c:v>
                </c:pt>
                <c:pt idx="3">
                  <c:v>2021</c:v>
                </c:pt>
                <c:pt idx="4">
                  <c:v>2022</c:v>
                </c:pt>
                <c:pt idx="5">
                  <c:v>2023</c:v>
                </c:pt>
                <c:pt idx="6">
                  <c:v>2024</c:v>
                </c:pt>
              </c:strCache>
            </c:strRef>
          </c:cat>
          <c:val>
            <c:numRef>
              <c:f>Sheet1!$B$2:$B$8</c:f>
              <c:numCache>
                <c:formatCode>General</c:formatCode>
                <c:ptCount val="7"/>
                <c:pt idx="0">
                  <c:v>10.02</c:v>
                </c:pt>
                <c:pt idx="1">
                  <c:v>10.19</c:v>
                </c:pt>
                <c:pt idx="2">
                  <c:v>10.1</c:v>
                </c:pt>
                <c:pt idx="3">
                  <c:v>10.07</c:v>
                </c:pt>
                <c:pt idx="4">
                  <c:v>10.08</c:v>
                </c:pt>
                <c:pt idx="5">
                  <c:v>10.02</c:v>
                </c:pt>
                <c:pt idx="6">
                  <c:v>10.16</c:v>
                </c:pt>
              </c:numCache>
            </c:numRef>
          </c:val>
          <c:smooth val="0"/>
          <c:extLst>
            <c:ext xmlns:c16="http://schemas.microsoft.com/office/drawing/2014/chart" uri="{C3380CC4-5D6E-409C-BE32-E72D297353CC}">
              <c16:uniqueId val="{00000000-32A4-4F13-A251-71B52DF757EB}"/>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233240"/>
                </a:solidFill>
                <a:latin typeface="Calibri"/>
              </a:defRPr>
            </a:pPr>
            <a:endParaRPr lang="en-US"/>
          </a:p>
        </c:txPr>
        <c:crossAx val="2094734552"/>
        <c:crosses val="autoZero"/>
        <c:auto val="1"/>
        <c:lblAlgn val="ctr"/>
        <c:lblOffset val="100"/>
        <c:noMultiLvlLbl val="1"/>
      </c:catAx>
      <c:valAx>
        <c:axId val="2094734552"/>
        <c:scaling>
          <c:orientation val="minMax"/>
          <c:max val="10.5"/>
          <c:min val="9.5"/>
        </c:scaling>
        <c:delete val="0"/>
        <c:axPos val="l"/>
        <c:majorGridlines>
          <c:spPr>
            <a:ln w="12700" cap="flat">
              <a:solidFill>
                <a:srgbClr val="E3E8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6788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386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863840" y="0"/>
            <a:ext cx="4325112" cy="6858000"/>
          </a:xfrm>
          <a:prstGeom prst="rect">
            <a:avLst/>
          </a:prstGeom>
          <a:solidFill>
            <a:srgbClr val="0F6E8C"/>
          </a:solidFill>
          <a:ln/>
        </p:spPr>
      </p:sp>
      <p:sp>
        <p:nvSpPr>
          <p:cNvPr id="3" name="Shape 1"/>
          <p:cNvSpPr/>
          <p:nvPr/>
        </p:nvSpPr>
        <p:spPr>
          <a:xfrm>
            <a:off x="7680960" y="0"/>
            <a:ext cx="182880" cy="6858000"/>
          </a:xfrm>
          <a:prstGeom prst="rect">
            <a:avLst/>
          </a:prstGeom>
          <a:solidFill>
            <a:srgbClr val="E08E45"/>
          </a:solidFill>
          <a:ln/>
        </p:spPr>
      </p:sp>
      <p:sp>
        <p:nvSpPr>
          <p:cNvPr id="4" name="Text 2"/>
          <p:cNvSpPr/>
          <p:nvPr/>
        </p:nvSpPr>
        <p:spPr>
          <a:xfrm>
            <a:off x="731520" y="2286000"/>
            <a:ext cx="5486400" cy="320040"/>
          </a:xfrm>
          <a:prstGeom prst="rect">
            <a:avLst/>
          </a:prstGeom>
          <a:noFill/>
          <a:ln/>
        </p:spPr>
        <p:txBody>
          <a:bodyPr wrap="square" rtlCol="0" anchor="ctr"/>
          <a:lstStyle/>
          <a:p>
            <a:pPr marL="0" indent="0">
              <a:buNone/>
            </a:pPr>
            <a:r>
              <a:rPr lang="en-US" sz="1300" b="1" kern="0" spc="200" dirty="0">
                <a:solidFill>
                  <a:srgbClr val="0F6E8C"/>
                </a:solidFill>
                <a:latin typeface="Calibri" pitchFamily="34" charset="0"/>
                <a:ea typeface="Calibri" pitchFamily="34" charset="-122"/>
                <a:cs typeface="Calibri" pitchFamily="34" charset="-120"/>
              </a:rPr>
              <a:t>POWER BI PROJECT</a:t>
            </a:r>
            <a:endParaRPr lang="en-US" sz="1300" dirty="0"/>
          </a:p>
        </p:txBody>
      </p:sp>
      <p:sp>
        <p:nvSpPr>
          <p:cNvPr id="5" name="Text 3"/>
          <p:cNvSpPr/>
          <p:nvPr/>
        </p:nvSpPr>
        <p:spPr>
          <a:xfrm>
            <a:off x="731520" y="2651760"/>
            <a:ext cx="6675120" cy="1737360"/>
          </a:xfrm>
          <a:prstGeom prst="rect">
            <a:avLst/>
          </a:prstGeom>
          <a:noFill/>
          <a:ln/>
        </p:spPr>
        <p:txBody>
          <a:bodyPr wrap="square" rtlCol="0" anchor="ctr"/>
          <a:lstStyle/>
          <a:p>
            <a:pPr marL="0" indent="0">
              <a:lnSpc>
                <a:spcPts val="4000"/>
              </a:lnSpc>
              <a:buNone/>
            </a:pPr>
            <a:r>
              <a:rPr lang="en-US" sz="3600" b="1" dirty="0">
                <a:solidFill>
                  <a:srgbClr val="16324F"/>
                </a:solidFill>
                <a:latin typeface="Cambria" pitchFamily="34" charset="0"/>
                <a:ea typeface="Cambria" pitchFamily="34" charset="-122"/>
                <a:cs typeface="Cambria" pitchFamily="34" charset="-120"/>
              </a:rPr>
              <a:t>Sales Performance</a:t>
            </a:r>
            <a:endParaRPr lang="en-US" sz="3600" dirty="0"/>
          </a:p>
          <a:p>
            <a:pPr marL="0" indent="0">
              <a:lnSpc>
                <a:spcPts val="4000"/>
              </a:lnSpc>
              <a:buNone/>
            </a:pPr>
            <a:r>
              <a:rPr lang="en-US" sz="3600" b="1" dirty="0">
                <a:solidFill>
                  <a:srgbClr val="16324F"/>
                </a:solidFill>
                <a:latin typeface="Cambria" pitchFamily="34" charset="0"/>
                <a:ea typeface="Cambria" pitchFamily="34" charset="-122"/>
                <a:cs typeface="Cambria" pitchFamily="34" charset="-120"/>
              </a:rPr>
              <a:t>Analysis Dashboard</a:t>
            </a:r>
            <a:endParaRPr lang="en-US" sz="3600" dirty="0"/>
          </a:p>
        </p:txBody>
      </p:sp>
      <p:sp>
        <p:nvSpPr>
          <p:cNvPr id="6" name="Shape 4"/>
          <p:cNvSpPr/>
          <p:nvPr/>
        </p:nvSpPr>
        <p:spPr>
          <a:xfrm>
            <a:off x="731520" y="4434840"/>
            <a:ext cx="1463040" cy="0"/>
          </a:xfrm>
          <a:prstGeom prst="line">
            <a:avLst/>
          </a:prstGeom>
          <a:noFill/>
          <a:ln w="38100">
            <a:solidFill>
              <a:srgbClr val="E08E45"/>
            </a:solidFill>
            <a:prstDash val="solid"/>
          </a:ln>
        </p:spPr>
      </p:sp>
      <p:sp>
        <p:nvSpPr>
          <p:cNvPr id="7" name="Text 5"/>
          <p:cNvSpPr/>
          <p:nvPr/>
        </p:nvSpPr>
        <p:spPr>
          <a:xfrm>
            <a:off x="731520" y="4709160"/>
            <a:ext cx="5486400" cy="320040"/>
          </a:xfrm>
          <a:prstGeom prst="rect">
            <a:avLst/>
          </a:prstGeom>
          <a:noFill/>
          <a:ln/>
        </p:spPr>
        <p:txBody>
          <a:bodyPr wrap="square" rtlCol="0" anchor="ctr"/>
          <a:lstStyle/>
          <a:p>
            <a:pPr marL="0" indent="0">
              <a:buNone/>
            </a:pPr>
            <a:r>
              <a:rPr lang="en-US" sz="1300" b="1" dirty="0">
                <a:solidFill>
                  <a:srgbClr val="66788A"/>
                </a:solidFill>
                <a:latin typeface="Calibri" pitchFamily="34" charset="0"/>
                <a:ea typeface="Calibri" pitchFamily="34" charset="-122"/>
                <a:cs typeface="Calibri" pitchFamily="34" charset="-120"/>
              </a:rPr>
              <a:t>Prepared by:  </a:t>
            </a:r>
            <a:r>
              <a:rPr lang="en-US" sz="1300" b="1" dirty="0">
                <a:solidFill>
                  <a:srgbClr val="16324F"/>
                </a:solidFill>
                <a:latin typeface="Calibri" pitchFamily="34" charset="0"/>
                <a:ea typeface="Calibri" pitchFamily="34" charset="-122"/>
                <a:cs typeface="Calibri" pitchFamily="34" charset="-120"/>
              </a:rPr>
              <a:t>Jainam Panchal</a:t>
            </a:r>
            <a:endParaRPr lang="en-US" sz="1300" dirty="0"/>
          </a:p>
        </p:txBody>
      </p:sp>
      <p:sp>
        <p:nvSpPr>
          <p:cNvPr id="8" name="Text 6"/>
          <p:cNvSpPr/>
          <p:nvPr/>
        </p:nvSpPr>
        <p:spPr>
          <a:xfrm>
            <a:off x="731520" y="5029200"/>
            <a:ext cx="5486400" cy="320040"/>
          </a:xfrm>
          <a:prstGeom prst="rect">
            <a:avLst/>
          </a:prstGeom>
          <a:noFill/>
          <a:ln/>
        </p:spPr>
        <p:txBody>
          <a:bodyPr wrap="square" rtlCol="0" anchor="ctr"/>
          <a:lstStyle/>
          <a:p>
            <a:pPr marL="0" indent="0">
              <a:buNone/>
            </a:pPr>
            <a:r>
              <a:rPr lang="en-US" sz="1300" b="1" dirty="0">
                <a:solidFill>
                  <a:srgbClr val="66788A"/>
                </a:solidFill>
                <a:latin typeface="Calibri" pitchFamily="34" charset="0"/>
                <a:ea typeface="Calibri" pitchFamily="34" charset="-122"/>
                <a:cs typeface="Calibri" pitchFamily="34" charset="-120"/>
              </a:rPr>
              <a:t>Mentor:  </a:t>
            </a:r>
            <a:r>
              <a:rPr lang="en-US" sz="1300" b="1" dirty="0">
                <a:solidFill>
                  <a:srgbClr val="16324F"/>
                </a:solidFill>
                <a:latin typeface="Calibri" pitchFamily="34" charset="0"/>
                <a:ea typeface="Calibri" pitchFamily="34" charset="-122"/>
                <a:cs typeface="Calibri" pitchFamily="34" charset="-120"/>
              </a:rPr>
              <a:t>Shreyas Prajapati</a:t>
            </a:r>
            <a:endParaRPr lang="en-US" sz="1300" dirty="0"/>
          </a:p>
        </p:txBody>
      </p:sp>
      <p:sp>
        <p:nvSpPr>
          <p:cNvPr id="9" name="Text 7"/>
          <p:cNvSpPr/>
          <p:nvPr/>
        </p:nvSpPr>
        <p:spPr>
          <a:xfrm>
            <a:off x="731520" y="5349240"/>
            <a:ext cx="5486400" cy="320040"/>
          </a:xfrm>
          <a:prstGeom prst="rect">
            <a:avLst/>
          </a:prstGeom>
          <a:noFill/>
          <a:ln/>
        </p:spPr>
        <p:txBody>
          <a:bodyPr wrap="square" rtlCol="0" anchor="ctr"/>
          <a:lstStyle/>
          <a:p>
            <a:pPr marL="0" indent="0">
              <a:buNone/>
            </a:pPr>
            <a:r>
              <a:rPr lang="en-US" sz="1300" b="1" dirty="0">
                <a:solidFill>
                  <a:srgbClr val="66788A"/>
                </a:solidFill>
                <a:latin typeface="Calibri" pitchFamily="34" charset="0"/>
                <a:ea typeface="Calibri" pitchFamily="34" charset="-122"/>
                <a:cs typeface="Calibri" pitchFamily="34" charset="-120"/>
              </a:rPr>
              <a:t>Institute:  </a:t>
            </a:r>
            <a:r>
              <a:rPr lang="en-US" sz="1300" b="1" dirty="0" err="1">
                <a:solidFill>
                  <a:srgbClr val="16324F"/>
                </a:solidFill>
                <a:latin typeface="Calibri" pitchFamily="34" charset="0"/>
                <a:ea typeface="Calibri" pitchFamily="34" charset="-122"/>
                <a:cs typeface="Calibri" pitchFamily="34" charset="-120"/>
              </a:rPr>
              <a:t>ITVdeant</a:t>
            </a:r>
            <a:r>
              <a:rPr lang="en-US" sz="1300" b="1" dirty="0">
                <a:solidFill>
                  <a:srgbClr val="16324F"/>
                </a:solidFill>
                <a:latin typeface="Calibri" pitchFamily="34" charset="0"/>
                <a:ea typeface="Calibri" pitchFamily="34" charset="-122"/>
                <a:cs typeface="Calibri" pitchFamily="34" charset="-120"/>
              </a:rPr>
              <a:t>, Ahmedabad</a:t>
            </a:r>
            <a:endParaRPr lang="en-US" sz="1300" dirty="0"/>
          </a:p>
        </p:txBody>
      </p:sp>
      <p:sp>
        <p:nvSpPr>
          <p:cNvPr id="10" name="Text 8"/>
          <p:cNvSpPr/>
          <p:nvPr/>
        </p:nvSpPr>
        <p:spPr>
          <a:xfrm>
            <a:off x="8229600" y="2788920"/>
            <a:ext cx="3566160" cy="6400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100K</a:t>
            </a:r>
            <a:endParaRPr lang="en-US" sz="3400" dirty="0"/>
          </a:p>
        </p:txBody>
      </p:sp>
      <p:sp>
        <p:nvSpPr>
          <p:cNvPr id="11" name="Text 9"/>
          <p:cNvSpPr/>
          <p:nvPr/>
        </p:nvSpPr>
        <p:spPr>
          <a:xfrm>
            <a:off x="8229600" y="3310128"/>
            <a:ext cx="3566160" cy="320040"/>
          </a:xfrm>
          <a:prstGeom prst="rect">
            <a:avLst/>
          </a:prstGeom>
          <a:noFill/>
          <a:ln/>
        </p:spPr>
        <p:txBody>
          <a:bodyPr wrap="square" rtlCol="0" anchor="ctr"/>
          <a:lstStyle/>
          <a:p>
            <a:pPr marL="0" indent="0">
              <a:buNone/>
            </a:pPr>
            <a:r>
              <a:rPr lang="en-US" sz="1200" dirty="0">
                <a:solidFill>
                  <a:srgbClr val="CFE6EE"/>
                </a:solidFill>
                <a:latin typeface="Calibri" pitchFamily="34" charset="0"/>
                <a:ea typeface="Calibri" pitchFamily="34" charset="-122"/>
                <a:cs typeface="Calibri" pitchFamily="34" charset="-120"/>
              </a:rPr>
              <a:t>Transactions Analyzed</a:t>
            </a:r>
            <a:endParaRPr lang="en-US" sz="1200" dirty="0"/>
          </a:p>
        </p:txBody>
      </p:sp>
      <p:sp>
        <p:nvSpPr>
          <p:cNvPr id="12" name="Shape 10"/>
          <p:cNvSpPr/>
          <p:nvPr/>
        </p:nvSpPr>
        <p:spPr>
          <a:xfrm>
            <a:off x="8229600" y="3886200"/>
            <a:ext cx="3017520" cy="0"/>
          </a:xfrm>
          <a:prstGeom prst="line">
            <a:avLst/>
          </a:prstGeom>
          <a:noFill/>
          <a:ln w="12700">
            <a:solidFill>
              <a:srgbClr val="3E93AF"/>
            </a:solidFill>
            <a:prstDash val="solid"/>
          </a:ln>
        </p:spPr>
      </p:sp>
      <p:sp>
        <p:nvSpPr>
          <p:cNvPr id="13" name="Text 11"/>
          <p:cNvSpPr/>
          <p:nvPr/>
        </p:nvSpPr>
        <p:spPr>
          <a:xfrm>
            <a:off x="8229600" y="4069080"/>
            <a:ext cx="3566160" cy="822960"/>
          </a:xfrm>
          <a:prstGeom prst="rect">
            <a:avLst/>
          </a:prstGeom>
          <a:noFill/>
          <a:ln/>
        </p:spPr>
        <p:txBody>
          <a:bodyPr wrap="square" rtlCol="0" anchor="ctr"/>
          <a:lstStyle/>
          <a:p>
            <a:pPr marL="0" indent="0">
              <a:lnSpc>
                <a:spcPts val="1700"/>
              </a:lnSpc>
              <a:buNone/>
            </a:pPr>
            <a:r>
              <a:rPr lang="en-US" sz="1200" i="1" dirty="0">
                <a:solidFill>
                  <a:srgbClr val="CFE6EE"/>
                </a:solidFill>
                <a:latin typeface="Calibri" pitchFamily="34" charset="0"/>
                <a:ea typeface="Calibri" pitchFamily="34" charset="-122"/>
                <a:cs typeface="Calibri" pitchFamily="34" charset="-120"/>
              </a:rPr>
              <a:t>Built using Power BI, DAX,</a:t>
            </a:r>
            <a:endParaRPr lang="en-US" sz="1200" dirty="0"/>
          </a:p>
          <a:p>
            <a:pPr marL="0" indent="0">
              <a:lnSpc>
                <a:spcPts val="1700"/>
              </a:lnSpc>
              <a:buNone/>
            </a:pPr>
            <a:r>
              <a:rPr lang="en-US" sz="1200" i="1" dirty="0">
                <a:solidFill>
                  <a:srgbClr val="CFE6EE"/>
                </a:solidFill>
                <a:latin typeface="Calibri" pitchFamily="34" charset="0"/>
                <a:ea typeface="Calibri" pitchFamily="34" charset="-122"/>
                <a:cs typeface="Calibri" pitchFamily="34" charset="-120"/>
              </a:rPr>
              <a:t>and relational data modeling</a:t>
            </a:r>
            <a:endParaRPr lang="en-US" sz="1200" dirty="0"/>
          </a:p>
        </p:txBody>
      </p:sp>
      <p:sp>
        <p:nvSpPr>
          <p:cNvPr id="14" name="Shape 12"/>
          <p:cNvSpPr/>
          <p:nvPr/>
        </p:nvSpPr>
        <p:spPr>
          <a:xfrm>
            <a:off x="0" y="6784848"/>
            <a:ext cx="12188952" cy="73152"/>
          </a:xfrm>
          <a:prstGeom prst="rect">
            <a:avLst/>
          </a:prstGeom>
          <a:solidFill>
            <a:srgbClr val="0F6E8C"/>
          </a:solidFill>
          <a:ln/>
        </p:spPr>
      </p:sp>
      <p:sp>
        <p:nvSpPr>
          <p:cNvPr id="15" name="Text 13"/>
          <p:cNvSpPr/>
          <p:nvPr/>
        </p:nvSpPr>
        <p:spPr>
          <a:xfrm>
            <a:off x="457200" y="6510528"/>
            <a:ext cx="7315200" cy="256032"/>
          </a:xfrm>
          <a:prstGeom prst="rect">
            <a:avLst/>
          </a:prstGeom>
          <a:noFill/>
          <a:ln/>
        </p:spPr>
        <p:txBody>
          <a:bodyPr wrap="square" rtlCol="0" anchor="ctr"/>
          <a:lstStyle/>
          <a:p>
            <a:pPr marL="0" indent="0" algn="l">
              <a:buNone/>
            </a:pPr>
            <a:r>
              <a:rPr lang="en-US" sz="900" dirty="0">
                <a:solidFill>
                  <a:srgbClr val="66788A"/>
                </a:solidFill>
                <a:latin typeface="Calibri" pitchFamily="34" charset="0"/>
                <a:ea typeface="Calibri" pitchFamily="34" charset="-122"/>
                <a:cs typeface="Calibri" pitchFamily="34" charset="-120"/>
              </a:rPr>
              <a:t>Sales Performance Analysis — Power BI Project</a:t>
            </a:r>
            <a:endParaRPr lang="en-US" sz="900" dirty="0"/>
          </a:p>
        </p:txBody>
      </p:sp>
      <p:sp>
        <p:nvSpPr>
          <p:cNvPr id="16" name="Text 14"/>
          <p:cNvSpPr/>
          <p:nvPr/>
        </p:nvSpPr>
        <p:spPr>
          <a:xfrm>
            <a:off x="11521440" y="6510528"/>
            <a:ext cx="365760" cy="256032"/>
          </a:xfrm>
          <a:prstGeom prst="rect">
            <a:avLst/>
          </a:prstGeom>
          <a:noFill/>
          <a:ln/>
        </p:spPr>
        <p:txBody>
          <a:bodyPr wrap="square" rtlCol="0" anchor="ctr"/>
          <a:lstStyle/>
          <a:p>
            <a:pPr marL="0" indent="0" algn="r">
              <a:buNone/>
            </a:pPr>
            <a:r>
              <a:rPr lang="en-US" sz="900" dirty="0">
                <a:solidFill>
                  <a:srgbClr val="66788A"/>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F6E8C"/>
          </a:solidFill>
          <a:ln/>
        </p:spPr>
      </p:sp>
      <p:sp>
        <p:nvSpPr>
          <p:cNvPr id="3" name="Text 1"/>
          <p:cNvSpPr/>
          <p:nvPr/>
        </p:nvSpPr>
        <p:spPr>
          <a:xfrm>
            <a:off x="502920" y="411480"/>
            <a:ext cx="7315200" cy="274320"/>
          </a:xfrm>
          <a:prstGeom prst="rect">
            <a:avLst/>
          </a:prstGeom>
          <a:noFill/>
          <a:ln/>
        </p:spPr>
        <p:txBody>
          <a:bodyPr wrap="square" rtlCol="0" anchor="ctr"/>
          <a:lstStyle/>
          <a:p>
            <a:pPr marL="0" indent="0">
              <a:buNone/>
            </a:pPr>
            <a:r>
              <a:rPr lang="en-US" sz="1200" b="1" kern="0" spc="200" dirty="0">
                <a:solidFill>
                  <a:srgbClr val="0F6E8C"/>
                </a:solidFill>
                <a:latin typeface="Calibri" pitchFamily="34" charset="0"/>
                <a:ea typeface="Calibri" pitchFamily="34" charset="-122"/>
                <a:cs typeface="Calibri" pitchFamily="34" charset="-120"/>
              </a:rPr>
              <a:t>INTRODUCTION</a:t>
            </a:r>
            <a:endParaRPr lang="en-US" sz="1200" dirty="0"/>
          </a:p>
        </p:txBody>
      </p:sp>
      <p:sp>
        <p:nvSpPr>
          <p:cNvPr id="4" name="Text 2"/>
          <p:cNvSpPr/>
          <p:nvPr/>
        </p:nvSpPr>
        <p:spPr>
          <a:xfrm>
            <a:off x="502920" y="685800"/>
            <a:ext cx="9601200" cy="685800"/>
          </a:xfrm>
          <a:prstGeom prst="rect">
            <a:avLst/>
          </a:prstGeom>
          <a:noFill/>
          <a:ln/>
        </p:spPr>
        <p:txBody>
          <a:bodyPr wrap="square" rtlCol="0" anchor="ctr"/>
          <a:lstStyle/>
          <a:p>
            <a:pPr marL="0" indent="0">
              <a:buNone/>
            </a:pPr>
            <a:r>
              <a:rPr lang="en-US" sz="2800" b="1" dirty="0">
                <a:solidFill>
                  <a:srgbClr val="16324F"/>
                </a:solidFill>
                <a:latin typeface="Cambria" pitchFamily="34" charset="0"/>
                <a:ea typeface="Cambria" pitchFamily="34" charset="-122"/>
                <a:cs typeface="Cambria" pitchFamily="34" charset="-120"/>
              </a:rPr>
              <a:t>Project Overview</a:t>
            </a:r>
            <a:endParaRPr lang="en-US" sz="2800" dirty="0"/>
          </a:p>
        </p:txBody>
      </p:sp>
      <p:sp>
        <p:nvSpPr>
          <p:cNvPr id="5" name="Shape 3"/>
          <p:cNvSpPr/>
          <p:nvPr/>
        </p:nvSpPr>
        <p:spPr>
          <a:xfrm>
            <a:off x="502920" y="1371600"/>
            <a:ext cx="1371600" cy="0"/>
          </a:xfrm>
          <a:prstGeom prst="line">
            <a:avLst/>
          </a:prstGeom>
          <a:noFill/>
          <a:ln w="31750">
            <a:solidFill>
              <a:srgbClr val="E08E45"/>
            </a:solidFill>
            <a:prstDash val="solid"/>
          </a:ln>
        </p:spPr>
      </p:sp>
      <p:sp>
        <p:nvSpPr>
          <p:cNvPr id="6" name="Text 4"/>
          <p:cNvSpPr/>
          <p:nvPr/>
        </p:nvSpPr>
        <p:spPr>
          <a:xfrm>
            <a:off x="502920" y="1691640"/>
            <a:ext cx="6309360" cy="1463040"/>
          </a:xfrm>
          <a:prstGeom prst="rect">
            <a:avLst/>
          </a:prstGeom>
          <a:noFill/>
          <a:ln/>
        </p:spPr>
        <p:txBody>
          <a:bodyPr wrap="square" rtlCol="0" anchor="ctr"/>
          <a:lstStyle/>
          <a:p>
            <a:pPr marL="0" indent="0">
              <a:lnSpc>
                <a:spcPts val="2200"/>
              </a:lnSpc>
              <a:buNone/>
            </a:pPr>
            <a:r>
              <a:rPr lang="en-US" sz="1400" dirty="0">
                <a:solidFill>
                  <a:srgbClr val="233240"/>
                </a:solidFill>
                <a:latin typeface="Calibri" pitchFamily="34" charset="0"/>
                <a:ea typeface="Calibri" pitchFamily="34" charset="-122"/>
                <a:cs typeface="Calibri" pitchFamily="34" charset="-120"/>
              </a:rPr>
              <a:t>This project uses Power BI to analyze 100,000 sales transactions and build an interactive dashboard. It brings together product, customer, and sales data to show performance across categories, customer groups, discounts, and time.</a:t>
            </a:r>
            <a:endParaRPr lang="en-US" sz="1400" dirty="0"/>
          </a:p>
        </p:txBody>
      </p:sp>
      <p:sp>
        <p:nvSpPr>
          <p:cNvPr id="7" name="Shape 5"/>
          <p:cNvSpPr/>
          <p:nvPr/>
        </p:nvSpPr>
        <p:spPr>
          <a:xfrm>
            <a:off x="502920" y="3383280"/>
            <a:ext cx="502920" cy="502920"/>
          </a:xfrm>
          <a:prstGeom prst="roundRect">
            <a:avLst>
              <a:gd name="adj" fmla="val 16364"/>
            </a:avLst>
          </a:prstGeom>
          <a:solidFill>
            <a:srgbClr val="0F6E8C"/>
          </a:solidFill>
          <a:ln/>
        </p:spPr>
      </p:sp>
      <p:pic>
        <p:nvPicPr>
          <p:cNvPr id="8" name="Image 0" descr="icon2_grid_white.png"/>
          <p:cNvPicPr>
            <a:picLocks noChangeAspect="1"/>
          </p:cNvPicPr>
          <p:nvPr/>
        </p:nvPicPr>
        <p:blipFill>
          <a:blip r:embed="rId3"/>
          <a:stretch>
            <a:fillRect/>
          </a:stretch>
        </p:blipFill>
        <p:spPr>
          <a:xfrm>
            <a:off x="613562" y="3493922"/>
            <a:ext cx="281635" cy="281635"/>
          </a:xfrm>
          <a:prstGeom prst="rect">
            <a:avLst/>
          </a:prstGeom>
        </p:spPr>
      </p:pic>
      <p:sp>
        <p:nvSpPr>
          <p:cNvPr id="9" name="Text 6"/>
          <p:cNvSpPr/>
          <p:nvPr/>
        </p:nvSpPr>
        <p:spPr>
          <a:xfrm>
            <a:off x="1188720" y="3355848"/>
            <a:ext cx="5394960" cy="320040"/>
          </a:xfrm>
          <a:prstGeom prst="rect">
            <a:avLst/>
          </a:prstGeom>
          <a:noFill/>
          <a:ln/>
        </p:spPr>
        <p:txBody>
          <a:bodyPr wrap="square" rtlCol="0" anchor="ctr"/>
          <a:lstStyle/>
          <a:p>
            <a:pPr marL="0" indent="0">
              <a:buNone/>
            </a:pPr>
            <a:r>
              <a:rPr lang="en-US" sz="1400" b="1" dirty="0">
                <a:solidFill>
                  <a:srgbClr val="16324F"/>
                </a:solidFill>
                <a:latin typeface="Cambria" pitchFamily="34" charset="0"/>
                <a:ea typeface="Cambria" pitchFamily="34" charset="-122"/>
                <a:cs typeface="Cambria" pitchFamily="34" charset="-120"/>
              </a:rPr>
              <a:t>Interactive Dashboard</a:t>
            </a:r>
            <a:endParaRPr lang="en-US" sz="1400" dirty="0"/>
          </a:p>
        </p:txBody>
      </p:sp>
      <p:sp>
        <p:nvSpPr>
          <p:cNvPr id="10" name="Text 7"/>
          <p:cNvSpPr/>
          <p:nvPr/>
        </p:nvSpPr>
        <p:spPr>
          <a:xfrm>
            <a:off x="1188720" y="3675888"/>
            <a:ext cx="5394960" cy="457200"/>
          </a:xfrm>
          <a:prstGeom prst="rect">
            <a:avLst/>
          </a:prstGeom>
          <a:noFill/>
          <a:ln/>
        </p:spPr>
        <p:txBody>
          <a:bodyPr wrap="square" rtlCol="0" anchor="ctr"/>
          <a:lstStyle/>
          <a:p>
            <a:pPr marL="0" indent="0">
              <a:buNone/>
            </a:pPr>
            <a:r>
              <a:rPr lang="en-US" sz="1150" dirty="0">
                <a:solidFill>
                  <a:srgbClr val="66788A"/>
                </a:solidFill>
                <a:latin typeface="Calibri" pitchFamily="34" charset="0"/>
                <a:ea typeface="Calibri" pitchFamily="34" charset="-122"/>
                <a:cs typeface="Calibri" pitchFamily="34" charset="-120"/>
              </a:rPr>
              <a:t>Slicers for Category, Loyalty Tier, Channel, Sub-Category, and Payment Method</a:t>
            </a:r>
            <a:endParaRPr lang="en-US" sz="1150" dirty="0"/>
          </a:p>
        </p:txBody>
      </p:sp>
      <p:sp>
        <p:nvSpPr>
          <p:cNvPr id="11" name="Shape 8"/>
          <p:cNvSpPr/>
          <p:nvPr/>
        </p:nvSpPr>
        <p:spPr>
          <a:xfrm>
            <a:off x="502920" y="4297680"/>
            <a:ext cx="502920" cy="502920"/>
          </a:xfrm>
          <a:prstGeom prst="roundRect">
            <a:avLst>
              <a:gd name="adj" fmla="val 16364"/>
            </a:avLst>
          </a:prstGeom>
          <a:solidFill>
            <a:srgbClr val="0F6E8C"/>
          </a:solidFill>
          <a:ln/>
        </p:spPr>
      </p:sp>
      <p:pic>
        <p:nvPicPr>
          <p:cNvPr id="12" name="Image 1" descr="icon2_pieChart_white.png"/>
          <p:cNvPicPr>
            <a:picLocks noChangeAspect="1"/>
          </p:cNvPicPr>
          <p:nvPr/>
        </p:nvPicPr>
        <p:blipFill>
          <a:blip r:embed="rId4"/>
          <a:stretch>
            <a:fillRect/>
          </a:stretch>
        </p:blipFill>
        <p:spPr>
          <a:xfrm>
            <a:off x="613562" y="4408322"/>
            <a:ext cx="281635" cy="281635"/>
          </a:xfrm>
          <a:prstGeom prst="rect">
            <a:avLst/>
          </a:prstGeom>
        </p:spPr>
      </p:pic>
      <p:sp>
        <p:nvSpPr>
          <p:cNvPr id="13" name="Text 9"/>
          <p:cNvSpPr/>
          <p:nvPr/>
        </p:nvSpPr>
        <p:spPr>
          <a:xfrm>
            <a:off x="1188720" y="4270248"/>
            <a:ext cx="5394960" cy="320040"/>
          </a:xfrm>
          <a:prstGeom prst="rect">
            <a:avLst/>
          </a:prstGeom>
          <a:noFill/>
          <a:ln/>
        </p:spPr>
        <p:txBody>
          <a:bodyPr wrap="square" rtlCol="0" anchor="ctr"/>
          <a:lstStyle/>
          <a:p>
            <a:pPr marL="0" indent="0">
              <a:buNone/>
            </a:pPr>
            <a:r>
              <a:rPr lang="en-US" sz="1400" b="1" dirty="0">
                <a:solidFill>
                  <a:srgbClr val="16324F"/>
                </a:solidFill>
                <a:latin typeface="Cambria" pitchFamily="34" charset="0"/>
                <a:ea typeface="Cambria" pitchFamily="34" charset="-122"/>
                <a:cs typeface="Cambria" pitchFamily="34" charset="-120"/>
              </a:rPr>
              <a:t>Multiple Perspectives</a:t>
            </a:r>
            <a:endParaRPr lang="en-US" sz="1400" dirty="0"/>
          </a:p>
        </p:txBody>
      </p:sp>
      <p:sp>
        <p:nvSpPr>
          <p:cNvPr id="14" name="Text 10"/>
          <p:cNvSpPr/>
          <p:nvPr/>
        </p:nvSpPr>
        <p:spPr>
          <a:xfrm>
            <a:off x="1188720" y="4590288"/>
            <a:ext cx="5394960" cy="457200"/>
          </a:xfrm>
          <a:prstGeom prst="rect">
            <a:avLst/>
          </a:prstGeom>
          <a:noFill/>
          <a:ln/>
        </p:spPr>
        <p:txBody>
          <a:bodyPr wrap="square" rtlCol="0" anchor="ctr"/>
          <a:lstStyle/>
          <a:p>
            <a:pPr marL="0" indent="0">
              <a:buNone/>
            </a:pPr>
            <a:r>
              <a:rPr lang="en-US" sz="1150" dirty="0">
                <a:solidFill>
                  <a:srgbClr val="66788A"/>
                </a:solidFill>
                <a:latin typeface="Calibri" pitchFamily="34" charset="0"/>
                <a:ea typeface="Calibri" pitchFamily="34" charset="-122"/>
                <a:cs typeface="Calibri" pitchFamily="34" charset="-120"/>
              </a:rPr>
              <a:t>Category, customer, discount, channel, and time-based views in one page</a:t>
            </a:r>
            <a:endParaRPr lang="en-US" sz="1150" dirty="0"/>
          </a:p>
        </p:txBody>
      </p:sp>
      <p:sp>
        <p:nvSpPr>
          <p:cNvPr id="15" name="Shape 11"/>
          <p:cNvSpPr/>
          <p:nvPr/>
        </p:nvSpPr>
        <p:spPr>
          <a:xfrm>
            <a:off x="502920" y="5212080"/>
            <a:ext cx="502920" cy="502920"/>
          </a:xfrm>
          <a:prstGeom prst="roundRect">
            <a:avLst>
              <a:gd name="adj" fmla="val 16364"/>
            </a:avLst>
          </a:prstGeom>
          <a:solidFill>
            <a:srgbClr val="0F6E8C"/>
          </a:solidFill>
          <a:ln/>
        </p:spPr>
      </p:sp>
      <p:pic>
        <p:nvPicPr>
          <p:cNvPr id="16" name="Image 2" descr="icon2_compass_white.png"/>
          <p:cNvPicPr>
            <a:picLocks noChangeAspect="1"/>
          </p:cNvPicPr>
          <p:nvPr/>
        </p:nvPicPr>
        <p:blipFill>
          <a:blip r:embed="rId5"/>
          <a:stretch>
            <a:fillRect/>
          </a:stretch>
        </p:blipFill>
        <p:spPr>
          <a:xfrm>
            <a:off x="613562" y="5322722"/>
            <a:ext cx="281635" cy="281635"/>
          </a:xfrm>
          <a:prstGeom prst="rect">
            <a:avLst/>
          </a:prstGeom>
        </p:spPr>
      </p:pic>
      <p:sp>
        <p:nvSpPr>
          <p:cNvPr id="17" name="Text 12"/>
          <p:cNvSpPr/>
          <p:nvPr/>
        </p:nvSpPr>
        <p:spPr>
          <a:xfrm>
            <a:off x="1188720" y="5184648"/>
            <a:ext cx="5394960" cy="320040"/>
          </a:xfrm>
          <a:prstGeom prst="rect">
            <a:avLst/>
          </a:prstGeom>
          <a:noFill/>
          <a:ln/>
        </p:spPr>
        <p:txBody>
          <a:bodyPr wrap="square" rtlCol="0" anchor="ctr"/>
          <a:lstStyle/>
          <a:p>
            <a:pPr marL="0" indent="0">
              <a:buNone/>
            </a:pPr>
            <a:r>
              <a:rPr lang="en-US" sz="1400" b="1" dirty="0">
                <a:solidFill>
                  <a:srgbClr val="16324F"/>
                </a:solidFill>
                <a:latin typeface="Cambria" pitchFamily="34" charset="0"/>
                <a:ea typeface="Cambria" pitchFamily="34" charset="-122"/>
                <a:cs typeface="Cambria" pitchFamily="34" charset="-120"/>
              </a:rPr>
              <a:t>Decision Support</a:t>
            </a:r>
            <a:endParaRPr lang="en-US" sz="1400" dirty="0"/>
          </a:p>
        </p:txBody>
      </p:sp>
      <p:sp>
        <p:nvSpPr>
          <p:cNvPr id="18" name="Text 13"/>
          <p:cNvSpPr/>
          <p:nvPr/>
        </p:nvSpPr>
        <p:spPr>
          <a:xfrm>
            <a:off x="1188720" y="5504688"/>
            <a:ext cx="5394960" cy="457200"/>
          </a:xfrm>
          <a:prstGeom prst="rect">
            <a:avLst/>
          </a:prstGeom>
          <a:noFill/>
          <a:ln/>
        </p:spPr>
        <p:txBody>
          <a:bodyPr wrap="square" rtlCol="0" anchor="ctr"/>
          <a:lstStyle/>
          <a:p>
            <a:pPr marL="0" indent="0">
              <a:buNone/>
            </a:pPr>
            <a:r>
              <a:rPr lang="en-US" sz="1150" dirty="0">
                <a:solidFill>
                  <a:srgbClr val="66788A"/>
                </a:solidFill>
                <a:latin typeface="Calibri" pitchFamily="34" charset="0"/>
                <a:ea typeface="Calibri" pitchFamily="34" charset="-122"/>
                <a:cs typeface="Calibri" pitchFamily="34" charset="-120"/>
              </a:rPr>
              <a:t>Clear KPIs and charts to help identify what drives sales and profit</a:t>
            </a:r>
            <a:endParaRPr lang="en-US" sz="1150" dirty="0"/>
          </a:p>
        </p:txBody>
      </p:sp>
      <p:sp>
        <p:nvSpPr>
          <p:cNvPr id="19" name="Shape 14"/>
          <p:cNvSpPr/>
          <p:nvPr/>
        </p:nvSpPr>
        <p:spPr>
          <a:xfrm>
            <a:off x="7315200" y="1691640"/>
            <a:ext cx="4343400" cy="4434840"/>
          </a:xfrm>
          <a:prstGeom prst="roundRect">
            <a:avLst>
              <a:gd name="adj" fmla="val 2105"/>
            </a:avLst>
          </a:prstGeom>
          <a:solidFill>
            <a:srgbClr val="FFFFFF"/>
          </a:solidFill>
          <a:ln w="12700">
            <a:solidFill>
              <a:srgbClr val="E3E8EC"/>
            </a:solidFill>
            <a:prstDash val="solid"/>
          </a:ln>
        </p:spPr>
      </p:sp>
      <p:sp>
        <p:nvSpPr>
          <p:cNvPr id="20" name="Text 15"/>
          <p:cNvSpPr/>
          <p:nvPr/>
        </p:nvSpPr>
        <p:spPr>
          <a:xfrm>
            <a:off x="7635240" y="1965960"/>
            <a:ext cx="3657600" cy="274320"/>
          </a:xfrm>
          <a:prstGeom prst="rect">
            <a:avLst/>
          </a:prstGeom>
          <a:noFill/>
          <a:ln/>
        </p:spPr>
        <p:txBody>
          <a:bodyPr wrap="square" rtlCol="0" anchor="ctr"/>
          <a:lstStyle/>
          <a:p>
            <a:pPr marL="0" indent="0">
              <a:buNone/>
            </a:pPr>
            <a:r>
              <a:rPr lang="en-US" sz="1100" b="1" kern="0" spc="150" dirty="0">
                <a:solidFill>
                  <a:srgbClr val="0F6E8C"/>
                </a:solidFill>
                <a:latin typeface="Calibri" pitchFamily="34" charset="0"/>
                <a:ea typeface="Calibri" pitchFamily="34" charset="-122"/>
                <a:cs typeface="Calibri" pitchFamily="34" charset="-120"/>
              </a:rPr>
              <a:t>PROJECT AT A GLANCE</a:t>
            </a:r>
            <a:endParaRPr lang="en-US" sz="1100" dirty="0"/>
          </a:p>
        </p:txBody>
      </p:sp>
      <p:sp>
        <p:nvSpPr>
          <p:cNvPr id="21" name="Text 16"/>
          <p:cNvSpPr/>
          <p:nvPr/>
        </p:nvSpPr>
        <p:spPr>
          <a:xfrm>
            <a:off x="7635240" y="2423160"/>
            <a:ext cx="3657600" cy="457200"/>
          </a:xfrm>
          <a:prstGeom prst="rect">
            <a:avLst/>
          </a:prstGeom>
          <a:noFill/>
          <a:ln/>
        </p:spPr>
        <p:txBody>
          <a:bodyPr wrap="square" rtlCol="0" anchor="ctr"/>
          <a:lstStyle/>
          <a:p>
            <a:pPr marL="0" indent="0">
              <a:buNone/>
            </a:pPr>
            <a:r>
              <a:rPr lang="en-US" sz="2600" b="1" dirty="0">
                <a:solidFill>
                  <a:srgbClr val="0F6E8C"/>
                </a:solidFill>
                <a:latin typeface="Cambria" pitchFamily="34" charset="0"/>
                <a:ea typeface="Cambria" pitchFamily="34" charset="-122"/>
                <a:cs typeface="Cambria" pitchFamily="34" charset="-120"/>
              </a:rPr>
              <a:t>3</a:t>
            </a:r>
            <a:endParaRPr lang="en-US" sz="2600" dirty="0"/>
          </a:p>
        </p:txBody>
      </p:sp>
      <p:sp>
        <p:nvSpPr>
          <p:cNvPr id="22" name="Text 17"/>
          <p:cNvSpPr/>
          <p:nvPr/>
        </p:nvSpPr>
        <p:spPr>
          <a:xfrm>
            <a:off x="7635240" y="2862072"/>
            <a:ext cx="3840480" cy="365760"/>
          </a:xfrm>
          <a:prstGeom prst="rect">
            <a:avLst/>
          </a:prstGeom>
          <a:noFill/>
          <a:ln/>
        </p:spPr>
        <p:txBody>
          <a:bodyPr wrap="square" rtlCol="0" anchor="ctr"/>
          <a:lstStyle/>
          <a:p>
            <a:pPr marL="0" indent="0">
              <a:buNone/>
            </a:pPr>
            <a:r>
              <a:rPr lang="en-US" sz="1150" dirty="0">
                <a:solidFill>
                  <a:srgbClr val="233240"/>
                </a:solidFill>
                <a:latin typeface="Calibri" pitchFamily="34" charset="0"/>
                <a:ea typeface="Calibri" pitchFamily="34" charset="-122"/>
                <a:cs typeface="Calibri" pitchFamily="34" charset="-120"/>
              </a:rPr>
              <a:t>Data tables (Fact + 2 Dimension)</a:t>
            </a:r>
            <a:endParaRPr lang="en-US" sz="1150" dirty="0"/>
          </a:p>
        </p:txBody>
      </p:sp>
      <p:sp>
        <p:nvSpPr>
          <p:cNvPr id="23" name="Text 18"/>
          <p:cNvSpPr/>
          <p:nvPr/>
        </p:nvSpPr>
        <p:spPr>
          <a:xfrm>
            <a:off x="7635240" y="3364992"/>
            <a:ext cx="3657600" cy="457200"/>
          </a:xfrm>
          <a:prstGeom prst="rect">
            <a:avLst/>
          </a:prstGeom>
          <a:noFill/>
          <a:ln/>
        </p:spPr>
        <p:txBody>
          <a:bodyPr wrap="square" rtlCol="0" anchor="ctr"/>
          <a:lstStyle/>
          <a:p>
            <a:pPr marL="0" indent="0">
              <a:buNone/>
            </a:pPr>
            <a:r>
              <a:rPr lang="en-US" sz="2600" b="1" dirty="0">
                <a:solidFill>
                  <a:srgbClr val="0F6E8C"/>
                </a:solidFill>
                <a:latin typeface="Cambria" pitchFamily="34" charset="0"/>
                <a:ea typeface="Cambria" pitchFamily="34" charset="-122"/>
                <a:cs typeface="Cambria" pitchFamily="34" charset="-120"/>
              </a:rPr>
              <a:t>11</a:t>
            </a:r>
            <a:endParaRPr lang="en-US" sz="2600" dirty="0"/>
          </a:p>
        </p:txBody>
      </p:sp>
      <p:sp>
        <p:nvSpPr>
          <p:cNvPr id="24" name="Text 19"/>
          <p:cNvSpPr/>
          <p:nvPr/>
        </p:nvSpPr>
        <p:spPr>
          <a:xfrm>
            <a:off x="7635240" y="3803904"/>
            <a:ext cx="3840480" cy="365760"/>
          </a:xfrm>
          <a:prstGeom prst="rect">
            <a:avLst/>
          </a:prstGeom>
          <a:noFill/>
          <a:ln/>
        </p:spPr>
        <p:txBody>
          <a:bodyPr wrap="square" rtlCol="0" anchor="ctr"/>
          <a:lstStyle/>
          <a:p>
            <a:pPr marL="0" indent="0">
              <a:buNone/>
            </a:pPr>
            <a:r>
              <a:rPr lang="en-US" sz="1150" dirty="0">
                <a:solidFill>
                  <a:srgbClr val="233240"/>
                </a:solidFill>
                <a:latin typeface="Calibri" pitchFamily="34" charset="0"/>
                <a:ea typeface="Calibri" pitchFamily="34" charset="-122"/>
                <a:cs typeface="Calibri" pitchFamily="34" charset="-120"/>
              </a:rPr>
              <a:t>Visuals on the dashboard</a:t>
            </a:r>
            <a:endParaRPr lang="en-US" sz="1150" dirty="0"/>
          </a:p>
        </p:txBody>
      </p:sp>
      <p:sp>
        <p:nvSpPr>
          <p:cNvPr id="25" name="Text 20"/>
          <p:cNvSpPr/>
          <p:nvPr/>
        </p:nvSpPr>
        <p:spPr>
          <a:xfrm>
            <a:off x="7635240" y="4306824"/>
            <a:ext cx="3657600" cy="457200"/>
          </a:xfrm>
          <a:prstGeom prst="rect">
            <a:avLst/>
          </a:prstGeom>
          <a:noFill/>
          <a:ln/>
        </p:spPr>
        <p:txBody>
          <a:bodyPr wrap="square" rtlCol="0" anchor="ctr"/>
          <a:lstStyle/>
          <a:p>
            <a:pPr marL="0" indent="0">
              <a:buNone/>
            </a:pPr>
            <a:r>
              <a:rPr lang="en-US" sz="2600" b="1" dirty="0">
                <a:solidFill>
                  <a:srgbClr val="0F6E8C"/>
                </a:solidFill>
                <a:latin typeface="Cambria" pitchFamily="34" charset="0"/>
                <a:ea typeface="Cambria" pitchFamily="34" charset="-122"/>
                <a:cs typeface="Cambria" pitchFamily="34" charset="-120"/>
              </a:rPr>
              <a:t>5</a:t>
            </a:r>
            <a:endParaRPr lang="en-US" sz="2600" dirty="0"/>
          </a:p>
        </p:txBody>
      </p:sp>
      <p:sp>
        <p:nvSpPr>
          <p:cNvPr id="26" name="Text 21"/>
          <p:cNvSpPr/>
          <p:nvPr/>
        </p:nvSpPr>
        <p:spPr>
          <a:xfrm>
            <a:off x="7635240" y="4745736"/>
            <a:ext cx="3840480" cy="365760"/>
          </a:xfrm>
          <a:prstGeom prst="rect">
            <a:avLst/>
          </a:prstGeom>
          <a:noFill/>
          <a:ln/>
        </p:spPr>
        <p:txBody>
          <a:bodyPr wrap="square" rtlCol="0" anchor="ctr"/>
          <a:lstStyle/>
          <a:p>
            <a:pPr marL="0" indent="0">
              <a:buNone/>
            </a:pPr>
            <a:r>
              <a:rPr lang="en-US" sz="1150" dirty="0">
                <a:solidFill>
                  <a:srgbClr val="233240"/>
                </a:solidFill>
                <a:latin typeface="Calibri" pitchFamily="34" charset="0"/>
                <a:ea typeface="Calibri" pitchFamily="34" charset="-122"/>
                <a:cs typeface="Calibri" pitchFamily="34" charset="-120"/>
              </a:rPr>
              <a:t>Interactive slicers</a:t>
            </a:r>
            <a:endParaRPr lang="en-US" sz="1150" dirty="0"/>
          </a:p>
        </p:txBody>
      </p:sp>
      <p:sp>
        <p:nvSpPr>
          <p:cNvPr id="27" name="Text 22"/>
          <p:cNvSpPr/>
          <p:nvPr/>
        </p:nvSpPr>
        <p:spPr>
          <a:xfrm>
            <a:off x="7635240" y="5248656"/>
            <a:ext cx="3657600" cy="457200"/>
          </a:xfrm>
          <a:prstGeom prst="rect">
            <a:avLst/>
          </a:prstGeom>
          <a:noFill/>
          <a:ln/>
        </p:spPr>
        <p:txBody>
          <a:bodyPr wrap="square" rtlCol="0" anchor="ctr"/>
          <a:lstStyle/>
          <a:p>
            <a:pPr marL="0" indent="0">
              <a:buNone/>
            </a:pPr>
            <a:r>
              <a:rPr lang="en-US" sz="2600" b="1" dirty="0">
                <a:solidFill>
                  <a:srgbClr val="0F6E8C"/>
                </a:solidFill>
                <a:latin typeface="Cambria" pitchFamily="34" charset="0"/>
                <a:ea typeface="Cambria" pitchFamily="34" charset="-122"/>
                <a:cs typeface="Cambria" pitchFamily="34" charset="-120"/>
              </a:rPr>
              <a:t>7</a:t>
            </a:r>
            <a:endParaRPr lang="en-US" sz="2600" dirty="0"/>
          </a:p>
        </p:txBody>
      </p:sp>
      <p:sp>
        <p:nvSpPr>
          <p:cNvPr id="28" name="Text 23"/>
          <p:cNvSpPr/>
          <p:nvPr/>
        </p:nvSpPr>
        <p:spPr>
          <a:xfrm>
            <a:off x="7635240" y="5687568"/>
            <a:ext cx="3840480" cy="365760"/>
          </a:xfrm>
          <a:prstGeom prst="rect">
            <a:avLst/>
          </a:prstGeom>
          <a:noFill/>
          <a:ln/>
        </p:spPr>
        <p:txBody>
          <a:bodyPr wrap="square" rtlCol="0" anchor="ctr"/>
          <a:lstStyle/>
          <a:p>
            <a:pPr marL="0" indent="0">
              <a:buNone/>
            </a:pPr>
            <a:r>
              <a:rPr lang="en-US" sz="1150" dirty="0">
                <a:solidFill>
                  <a:srgbClr val="233240"/>
                </a:solidFill>
                <a:latin typeface="Calibri" pitchFamily="34" charset="0"/>
                <a:ea typeface="Calibri" pitchFamily="34" charset="-122"/>
                <a:cs typeface="Calibri" pitchFamily="34" charset="-120"/>
              </a:rPr>
              <a:t>Years of data covered</a:t>
            </a:r>
            <a:endParaRPr lang="en-US" sz="1150" dirty="0"/>
          </a:p>
        </p:txBody>
      </p:sp>
      <p:sp>
        <p:nvSpPr>
          <p:cNvPr id="29" name="Shape 24"/>
          <p:cNvSpPr/>
          <p:nvPr/>
        </p:nvSpPr>
        <p:spPr>
          <a:xfrm>
            <a:off x="0" y="6784848"/>
            <a:ext cx="12188952" cy="73152"/>
          </a:xfrm>
          <a:prstGeom prst="rect">
            <a:avLst/>
          </a:prstGeom>
          <a:solidFill>
            <a:srgbClr val="0F6E8C"/>
          </a:solidFill>
          <a:ln/>
        </p:spPr>
      </p:sp>
      <p:sp>
        <p:nvSpPr>
          <p:cNvPr id="30" name="Text 25"/>
          <p:cNvSpPr/>
          <p:nvPr/>
        </p:nvSpPr>
        <p:spPr>
          <a:xfrm>
            <a:off x="457200" y="6510528"/>
            <a:ext cx="7315200" cy="256032"/>
          </a:xfrm>
          <a:prstGeom prst="rect">
            <a:avLst/>
          </a:prstGeom>
          <a:noFill/>
          <a:ln/>
        </p:spPr>
        <p:txBody>
          <a:bodyPr wrap="square" rtlCol="0" anchor="ctr"/>
          <a:lstStyle/>
          <a:p>
            <a:pPr marL="0" indent="0" algn="l">
              <a:buNone/>
            </a:pPr>
            <a:r>
              <a:rPr lang="en-US" sz="900" dirty="0">
                <a:solidFill>
                  <a:srgbClr val="66788A"/>
                </a:solidFill>
                <a:latin typeface="Calibri" pitchFamily="34" charset="0"/>
                <a:ea typeface="Calibri" pitchFamily="34" charset="-122"/>
                <a:cs typeface="Calibri" pitchFamily="34" charset="-120"/>
              </a:rPr>
              <a:t>Sales Performance Analysis — Power BI Project</a:t>
            </a:r>
            <a:endParaRPr lang="en-US" sz="900" dirty="0"/>
          </a:p>
        </p:txBody>
      </p:sp>
      <p:sp>
        <p:nvSpPr>
          <p:cNvPr id="31" name="Text 26"/>
          <p:cNvSpPr/>
          <p:nvPr/>
        </p:nvSpPr>
        <p:spPr>
          <a:xfrm>
            <a:off x="11521440" y="6510528"/>
            <a:ext cx="365760" cy="256032"/>
          </a:xfrm>
          <a:prstGeom prst="rect">
            <a:avLst/>
          </a:prstGeom>
          <a:noFill/>
          <a:ln/>
        </p:spPr>
        <p:txBody>
          <a:bodyPr wrap="square" rtlCol="0" anchor="ctr"/>
          <a:lstStyle/>
          <a:p>
            <a:pPr marL="0" indent="0" algn="r">
              <a:buNone/>
            </a:pPr>
            <a:r>
              <a:rPr lang="en-US" sz="900" dirty="0">
                <a:solidFill>
                  <a:srgbClr val="66788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F6E8C"/>
          </a:solidFill>
          <a:ln/>
        </p:spPr>
      </p:sp>
      <p:sp>
        <p:nvSpPr>
          <p:cNvPr id="3" name="Text 1"/>
          <p:cNvSpPr/>
          <p:nvPr/>
        </p:nvSpPr>
        <p:spPr>
          <a:xfrm>
            <a:off x="502920" y="411480"/>
            <a:ext cx="7315200" cy="274320"/>
          </a:xfrm>
          <a:prstGeom prst="rect">
            <a:avLst/>
          </a:prstGeom>
          <a:noFill/>
          <a:ln/>
        </p:spPr>
        <p:txBody>
          <a:bodyPr wrap="square" rtlCol="0" anchor="ctr"/>
          <a:lstStyle/>
          <a:p>
            <a:pPr marL="0" indent="0">
              <a:buNone/>
            </a:pPr>
            <a:r>
              <a:rPr lang="en-US" sz="1200" b="1" kern="0" spc="200" dirty="0">
                <a:solidFill>
                  <a:srgbClr val="0F6E8C"/>
                </a:solidFill>
                <a:latin typeface="Calibri" pitchFamily="34" charset="0"/>
                <a:ea typeface="Calibri" pitchFamily="34" charset="-122"/>
                <a:cs typeface="Calibri" pitchFamily="34" charset="-120"/>
              </a:rPr>
              <a:t>FOUNDATION</a:t>
            </a:r>
            <a:endParaRPr lang="en-US" sz="1200" dirty="0"/>
          </a:p>
        </p:txBody>
      </p:sp>
      <p:sp>
        <p:nvSpPr>
          <p:cNvPr id="4" name="Text 2"/>
          <p:cNvSpPr/>
          <p:nvPr/>
        </p:nvSpPr>
        <p:spPr>
          <a:xfrm>
            <a:off x="502920" y="685800"/>
            <a:ext cx="9601200" cy="685800"/>
          </a:xfrm>
          <a:prstGeom prst="rect">
            <a:avLst/>
          </a:prstGeom>
          <a:noFill/>
          <a:ln/>
        </p:spPr>
        <p:txBody>
          <a:bodyPr wrap="square" rtlCol="0" anchor="ctr"/>
          <a:lstStyle/>
          <a:p>
            <a:pPr marL="0" indent="0">
              <a:buNone/>
            </a:pPr>
            <a:r>
              <a:rPr lang="en-US" sz="2800" b="1" dirty="0">
                <a:solidFill>
                  <a:srgbClr val="16324F"/>
                </a:solidFill>
                <a:latin typeface="Cambria" pitchFamily="34" charset="0"/>
                <a:ea typeface="Cambria" pitchFamily="34" charset="-122"/>
                <a:cs typeface="Cambria" pitchFamily="34" charset="-120"/>
              </a:rPr>
              <a:t>Problem Statement &amp; Objectives</a:t>
            </a:r>
            <a:endParaRPr lang="en-US" sz="2800" dirty="0"/>
          </a:p>
        </p:txBody>
      </p:sp>
      <p:sp>
        <p:nvSpPr>
          <p:cNvPr id="5" name="Shape 3"/>
          <p:cNvSpPr/>
          <p:nvPr/>
        </p:nvSpPr>
        <p:spPr>
          <a:xfrm>
            <a:off x="502920" y="1371600"/>
            <a:ext cx="1371600" cy="0"/>
          </a:xfrm>
          <a:prstGeom prst="line">
            <a:avLst/>
          </a:prstGeom>
          <a:noFill/>
          <a:ln w="31750">
            <a:solidFill>
              <a:srgbClr val="E08E45"/>
            </a:solidFill>
            <a:prstDash val="solid"/>
          </a:ln>
        </p:spPr>
      </p:sp>
      <p:sp>
        <p:nvSpPr>
          <p:cNvPr id="6" name="Shape 4"/>
          <p:cNvSpPr/>
          <p:nvPr/>
        </p:nvSpPr>
        <p:spPr>
          <a:xfrm>
            <a:off x="502920" y="1691640"/>
            <a:ext cx="502920" cy="502920"/>
          </a:xfrm>
          <a:prstGeom prst="roundRect">
            <a:avLst>
              <a:gd name="adj" fmla="val 16364"/>
            </a:avLst>
          </a:prstGeom>
          <a:solidFill>
            <a:srgbClr val="E08E45"/>
          </a:solidFill>
          <a:ln/>
        </p:spPr>
      </p:sp>
      <p:pic>
        <p:nvPicPr>
          <p:cNvPr id="7" name="Image 0" descr="icon2_alertCircle_white.png"/>
          <p:cNvPicPr>
            <a:picLocks noChangeAspect="1"/>
          </p:cNvPicPr>
          <p:nvPr/>
        </p:nvPicPr>
        <p:blipFill>
          <a:blip r:embed="rId3"/>
          <a:stretch>
            <a:fillRect/>
          </a:stretch>
        </p:blipFill>
        <p:spPr>
          <a:xfrm>
            <a:off x="613562" y="1802282"/>
            <a:ext cx="281635" cy="281635"/>
          </a:xfrm>
          <a:prstGeom prst="rect">
            <a:avLst/>
          </a:prstGeom>
        </p:spPr>
      </p:pic>
      <p:sp>
        <p:nvSpPr>
          <p:cNvPr id="8" name="Text 5"/>
          <p:cNvSpPr/>
          <p:nvPr/>
        </p:nvSpPr>
        <p:spPr>
          <a:xfrm>
            <a:off x="1188720" y="1737360"/>
            <a:ext cx="5486400" cy="365760"/>
          </a:xfrm>
          <a:prstGeom prst="rect">
            <a:avLst/>
          </a:prstGeom>
          <a:noFill/>
          <a:ln/>
        </p:spPr>
        <p:txBody>
          <a:bodyPr wrap="square" rtlCol="0" anchor="ctr"/>
          <a:lstStyle/>
          <a:p>
            <a:pPr marL="0" indent="0">
              <a:buNone/>
            </a:pPr>
            <a:r>
              <a:rPr lang="en-US" sz="1600" b="1" dirty="0">
                <a:solidFill>
                  <a:srgbClr val="16324F"/>
                </a:solidFill>
                <a:latin typeface="Cambria" pitchFamily="34" charset="0"/>
                <a:ea typeface="Cambria" pitchFamily="34" charset="-122"/>
                <a:cs typeface="Cambria" pitchFamily="34" charset="-120"/>
              </a:rPr>
              <a:t>Problem Statement</a:t>
            </a:r>
            <a:endParaRPr lang="en-US" sz="1600" dirty="0"/>
          </a:p>
        </p:txBody>
      </p:sp>
      <p:sp>
        <p:nvSpPr>
          <p:cNvPr id="9" name="Text 6"/>
          <p:cNvSpPr/>
          <p:nvPr/>
        </p:nvSpPr>
        <p:spPr>
          <a:xfrm>
            <a:off x="1188720" y="2148840"/>
            <a:ext cx="5852160" cy="1371600"/>
          </a:xfrm>
          <a:prstGeom prst="rect">
            <a:avLst/>
          </a:prstGeom>
          <a:noFill/>
          <a:ln/>
        </p:spPr>
        <p:txBody>
          <a:bodyPr wrap="square" rtlCol="0" anchor="ctr"/>
          <a:lstStyle/>
          <a:p>
            <a:pPr marL="0" indent="0">
              <a:lnSpc>
                <a:spcPts val="1900"/>
              </a:lnSpc>
              <a:buNone/>
            </a:pPr>
            <a:r>
              <a:rPr lang="en-US" sz="1250" dirty="0">
                <a:solidFill>
                  <a:srgbClr val="233240"/>
                </a:solidFill>
                <a:latin typeface="Calibri" pitchFamily="34" charset="0"/>
                <a:ea typeface="Calibri" pitchFamily="34" charset="-122"/>
                <a:cs typeface="Calibri" pitchFamily="34" charset="-120"/>
              </a:rPr>
              <a:t>Raw sales data does not explain itself. Without analysis, it is hard to know which categories are most profitable, whether discounts help or hurt margin, or how the customer base is structured. This project turns raw transaction data into a clear, visual dashboard that answers these questions.</a:t>
            </a:r>
            <a:endParaRPr lang="en-US" sz="1250" dirty="0"/>
          </a:p>
        </p:txBody>
      </p:sp>
      <p:sp>
        <p:nvSpPr>
          <p:cNvPr id="10" name="Shape 7"/>
          <p:cNvSpPr/>
          <p:nvPr/>
        </p:nvSpPr>
        <p:spPr>
          <a:xfrm>
            <a:off x="502920" y="3749040"/>
            <a:ext cx="502920" cy="502920"/>
          </a:xfrm>
          <a:prstGeom prst="roundRect">
            <a:avLst>
              <a:gd name="adj" fmla="val 16364"/>
            </a:avLst>
          </a:prstGeom>
          <a:solidFill>
            <a:srgbClr val="0F6E8C"/>
          </a:solidFill>
          <a:ln/>
        </p:spPr>
      </p:sp>
      <p:pic>
        <p:nvPicPr>
          <p:cNvPr id="11" name="Image 1" descr="icon2_flag_white.png"/>
          <p:cNvPicPr>
            <a:picLocks noChangeAspect="1"/>
          </p:cNvPicPr>
          <p:nvPr/>
        </p:nvPicPr>
        <p:blipFill>
          <a:blip r:embed="rId4"/>
          <a:stretch>
            <a:fillRect/>
          </a:stretch>
        </p:blipFill>
        <p:spPr>
          <a:xfrm>
            <a:off x="613562" y="3859682"/>
            <a:ext cx="281635" cy="281635"/>
          </a:xfrm>
          <a:prstGeom prst="rect">
            <a:avLst/>
          </a:prstGeom>
        </p:spPr>
      </p:pic>
      <p:sp>
        <p:nvSpPr>
          <p:cNvPr id="12" name="Text 8"/>
          <p:cNvSpPr/>
          <p:nvPr/>
        </p:nvSpPr>
        <p:spPr>
          <a:xfrm>
            <a:off x="1188720" y="3794760"/>
            <a:ext cx="5486400" cy="365760"/>
          </a:xfrm>
          <a:prstGeom prst="rect">
            <a:avLst/>
          </a:prstGeom>
          <a:noFill/>
          <a:ln/>
        </p:spPr>
        <p:txBody>
          <a:bodyPr wrap="square" rtlCol="0" anchor="ctr"/>
          <a:lstStyle/>
          <a:p>
            <a:pPr marL="0" indent="0">
              <a:buNone/>
            </a:pPr>
            <a:r>
              <a:rPr lang="en-US" sz="1600" b="1" dirty="0">
                <a:solidFill>
                  <a:srgbClr val="16324F"/>
                </a:solidFill>
                <a:latin typeface="Cambria" pitchFamily="34" charset="0"/>
                <a:ea typeface="Cambria" pitchFamily="34" charset="-122"/>
                <a:cs typeface="Cambria" pitchFamily="34" charset="-120"/>
              </a:rPr>
              <a:t>Objectives</a:t>
            </a:r>
            <a:endParaRPr lang="en-US" sz="1600" dirty="0"/>
          </a:p>
        </p:txBody>
      </p:sp>
      <p:sp>
        <p:nvSpPr>
          <p:cNvPr id="13" name="Shape 9"/>
          <p:cNvSpPr/>
          <p:nvPr/>
        </p:nvSpPr>
        <p:spPr>
          <a:xfrm>
            <a:off x="1188720" y="4315968"/>
            <a:ext cx="82296" cy="82296"/>
          </a:xfrm>
          <a:prstGeom prst="ellipse">
            <a:avLst/>
          </a:prstGeom>
          <a:solidFill>
            <a:srgbClr val="0F6E8C"/>
          </a:solidFill>
          <a:ln/>
        </p:spPr>
      </p:sp>
      <p:sp>
        <p:nvSpPr>
          <p:cNvPr id="14" name="Text 10"/>
          <p:cNvSpPr/>
          <p:nvPr/>
        </p:nvSpPr>
        <p:spPr>
          <a:xfrm>
            <a:off x="1417320" y="4178808"/>
            <a:ext cx="5669280" cy="365760"/>
          </a:xfrm>
          <a:prstGeom prst="rect">
            <a:avLst/>
          </a:prstGeom>
          <a:noFill/>
          <a:ln/>
        </p:spPr>
        <p:txBody>
          <a:bodyPr wrap="square" rtlCol="0" anchor="ctr"/>
          <a:lstStyle/>
          <a:p>
            <a:pPr marL="0" indent="0">
              <a:buNone/>
            </a:pPr>
            <a:r>
              <a:rPr lang="en-US" sz="1200" dirty="0">
                <a:solidFill>
                  <a:srgbClr val="233240"/>
                </a:solidFill>
                <a:latin typeface="Calibri" pitchFamily="34" charset="0"/>
                <a:ea typeface="Calibri" pitchFamily="34" charset="-122"/>
                <a:cs typeface="Calibri" pitchFamily="34" charset="-120"/>
              </a:rPr>
              <a:t>Analyze sales and profit margin across product categories</a:t>
            </a:r>
            <a:endParaRPr lang="en-US" sz="1200" dirty="0"/>
          </a:p>
        </p:txBody>
      </p:sp>
      <p:sp>
        <p:nvSpPr>
          <p:cNvPr id="15" name="Shape 11"/>
          <p:cNvSpPr/>
          <p:nvPr/>
        </p:nvSpPr>
        <p:spPr>
          <a:xfrm>
            <a:off x="1188720" y="4700016"/>
            <a:ext cx="82296" cy="82296"/>
          </a:xfrm>
          <a:prstGeom prst="ellipse">
            <a:avLst/>
          </a:prstGeom>
          <a:solidFill>
            <a:srgbClr val="0F6E8C"/>
          </a:solidFill>
          <a:ln/>
        </p:spPr>
      </p:sp>
      <p:sp>
        <p:nvSpPr>
          <p:cNvPr id="16" name="Text 12"/>
          <p:cNvSpPr/>
          <p:nvPr/>
        </p:nvSpPr>
        <p:spPr>
          <a:xfrm>
            <a:off x="1417320" y="4562856"/>
            <a:ext cx="5669280" cy="365760"/>
          </a:xfrm>
          <a:prstGeom prst="rect">
            <a:avLst/>
          </a:prstGeom>
          <a:noFill/>
          <a:ln/>
        </p:spPr>
        <p:txBody>
          <a:bodyPr wrap="square" rtlCol="0" anchor="ctr"/>
          <a:lstStyle/>
          <a:p>
            <a:pPr marL="0" indent="0">
              <a:buNone/>
            </a:pPr>
            <a:r>
              <a:rPr lang="en-US" sz="1200" dirty="0">
                <a:solidFill>
                  <a:srgbClr val="233240"/>
                </a:solidFill>
                <a:latin typeface="Calibri" pitchFamily="34" charset="0"/>
                <a:ea typeface="Calibri" pitchFamily="34" charset="-122"/>
                <a:cs typeface="Calibri" pitchFamily="34" charset="-120"/>
              </a:rPr>
              <a:t>Study the effect of discounts on profit margin</a:t>
            </a:r>
            <a:endParaRPr lang="en-US" sz="1200" dirty="0"/>
          </a:p>
        </p:txBody>
      </p:sp>
      <p:sp>
        <p:nvSpPr>
          <p:cNvPr id="17" name="Shape 13"/>
          <p:cNvSpPr/>
          <p:nvPr/>
        </p:nvSpPr>
        <p:spPr>
          <a:xfrm>
            <a:off x="1188720" y="5084064"/>
            <a:ext cx="82296" cy="82296"/>
          </a:xfrm>
          <a:prstGeom prst="ellipse">
            <a:avLst/>
          </a:prstGeom>
          <a:solidFill>
            <a:srgbClr val="0F6E8C"/>
          </a:solidFill>
          <a:ln/>
        </p:spPr>
      </p:sp>
      <p:sp>
        <p:nvSpPr>
          <p:cNvPr id="18" name="Text 14"/>
          <p:cNvSpPr/>
          <p:nvPr/>
        </p:nvSpPr>
        <p:spPr>
          <a:xfrm>
            <a:off x="1417320" y="4946904"/>
            <a:ext cx="5669280" cy="365760"/>
          </a:xfrm>
          <a:prstGeom prst="rect">
            <a:avLst/>
          </a:prstGeom>
          <a:noFill/>
          <a:ln/>
        </p:spPr>
        <p:txBody>
          <a:bodyPr wrap="square" rtlCol="0" anchor="ctr"/>
          <a:lstStyle/>
          <a:p>
            <a:pPr marL="0" indent="0">
              <a:buNone/>
            </a:pPr>
            <a:r>
              <a:rPr lang="en-US" sz="1200" dirty="0">
                <a:solidFill>
                  <a:srgbClr val="233240"/>
                </a:solidFill>
                <a:latin typeface="Calibri" pitchFamily="34" charset="0"/>
                <a:ea typeface="Calibri" pitchFamily="34" charset="-122"/>
                <a:cs typeface="Calibri" pitchFamily="34" charset="-120"/>
              </a:rPr>
              <a:t>Understand how customers are distributed across loyalty tiers</a:t>
            </a:r>
            <a:endParaRPr lang="en-US" sz="1200" dirty="0"/>
          </a:p>
        </p:txBody>
      </p:sp>
      <p:sp>
        <p:nvSpPr>
          <p:cNvPr id="19" name="Shape 15"/>
          <p:cNvSpPr/>
          <p:nvPr/>
        </p:nvSpPr>
        <p:spPr>
          <a:xfrm>
            <a:off x="1188720" y="5468112"/>
            <a:ext cx="82296" cy="82296"/>
          </a:xfrm>
          <a:prstGeom prst="ellipse">
            <a:avLst/>
          </a:prstGeom>
          <a:solidFill>
            <a:srgbClr val="0F6E8C"/>
          </a:solidFill>
          <a:ln/>
        </p:spPr>
      </p:sp>
      <p:sp>
        <p:nvSpPr>
          <p:cNvPr id="20" name="Text 16"/>
          <p:cNvSpPr/>
          <p:nvPr/>
        </p:nvSpPr>
        <p:spPr>
          <a:xfrm>
            <a:off x="1417320" y="5330952"/>
            <a:ext cx="5669280" cy="365760"/>
          </a:xfrm>
          <a:prstGeom prst="rect">
            <a:avLst/>
          </a:prstGeom>
          <a:noFill/>
          <a:ln/>
        </p:spPr>
        <p:txBody>
          <a:bodyPr wrap="square" rtlCol="0" anchor="ctr"/>
          <a:lstStyle/>
          <a:p>
            <a:pPr marL="0" indent="0">
              <a:buNone/>
            </a:pPr>
            <a:r>
              <a:rPr lang="en-US" sz="1200" dirty="0">
                <a:solidFill>
                  <a:srgbClr val="233240"/>
                </a:solidFill>
                <a:latin typeface="Calibri" pitchFamily="34" charset="0"/>
                <a:ea typeface="Calibri" pitchFamily="34" charset="-122"/>
                <a:cs typeface="Calibri" pitchFamily="34" charset="-120"/>
              </a:rPr>
              <a:t>Track sales performance over time</a:t>
            </a:r>
            <a:endParaRPr lang="en-US" sz="1200" dirty="0"/>
          </a:p>
        </p:txBody>
      </p:sp>
      <p:sp>
        <p:nvSpPr>
          <p:cNvPr id="21" name="Shape 17"/>
          <p:cNvSpPr/>
          <p:nvPr/>
        </p:nvSpPr>
        <p:spPr>
          <a:xfrm>
            <a:off x="1188720" y="5852160"/>
            <a:ext cx="82296" cy="82296"/>
          </a:xfrm>
          <a:prstGeom prst="ellipse">
            <a:avLst/>
          </a:prstGeom>
          <a:solidFill>
            <a:srgbClr val="0F6E8C"/>
          </a:solidFill>
          <a:ln/>
        </p:spPr>
      </p:sp>
      <p:sp>
        <p:nvSpPr>
          <p:cNvPr id="22" name="Text 18"/>
          <p:cNvSpPr/>
          <p:nvPr/>
        </p:nvSpPr>
        <p:spPr>
          <a:xfrm>
            <a:off x="1417320" y="5715000"/>
            <a:ext cx="5669280" cy="365760"/>
          </a:xfrm>
          <a:prstGeom prst="rect">
            <a:avLst/>
          </a:prstGeom>
          <a:noFill/>
          <a:ln/>
        </p:spPr>
        <p:txBody>
          <a:bodyPr wrap="square" rtlCol="0" anchor="ctr"/>
          <a:lstStyle/>
          <a:p>
            <a:pPr marL="0" indent="0">
              <a:buNone/>
            </a:pPr>
            <a:r>
              <a:rPr lang="en-US" sz="1200" dirty="0">
                <a:solidFill>
                  <a:srgbClr val="233240"/>
                </a:solidFill>
                <a:latin typeface="Calibri" pitchFamily="34" charset="0"/>
                <a:ea typeface="Calibri" pitchFamily="34" charset="-122"/>
                <a:cs typeface="Calibri" pitchFamily="34" charset="-120"/>
              </a:rPr>
              <a:t>Compare performance across sales channels</a:t>
            </a:r>
            <a:endParaRPr lang="en-US" sz="1200" dirty="0"/>
          </a:p>
        </p:txBody>
      </p:sp>
      <p:sp>
        <p:nvSpPr>
          <p:cNvPr id="23" name="Shape 19"/>
          <p:cNvSpPr/>
          <p:nvPr/>
        </p:nvSpPr>
        <p:spPr>
          <a:xfrm>
            <a:off x="7315200" y="1691640"/>
            <a:ext cx="4343400" cy="4434840"/>
          </a:xfrm>
          <a:prstGeom prst="roundRect">
            <a:avLst>
              <a:gd name="adj" fmla="val 2105"/>
            </a:avLst>
          </a:prstGeom>
          <a:solidFill>
            <a:srgbClr val="16324F"/>
          </a:solidFill>
          <a:ln/>
        </p:spPr>
      </p:sp>
      <p:sp>
        <p:nvSpPr>
          <p:cNvPr id="24" name="Text 20"/>
          <p:cNvSpPr/>
          <p:nvPr/>
        </p:nvSpPr>
        <p:spPr>
          <a:xfrm>
            <a:off x="7635240" y="1965960"/>
            <a:ext cx="3657600" cy="274320"/>
          </a:xfrm>
          <a:prstGeom prst="rect">
            <a:avLst/>
          </a:prstGeom>
          <a:noFill/>
          <a:ln/>
        </p:spPr>
        <p:txBody>
          <a:bodyPr wrap="square" rtlCol="0" anchor="ctr"/>
          <a:lstStyle/>
          <a:p>
            <a:pPr marL="0" indent="0">
              <a:buNone/>
            </a:pPr>
            <a:r>
              <a:rPr lang="en-US" sz="1100" b="1" kern="0" spc="150" dirty="0">
                <a:solidFill>
                  <a:srgbClr val="5FA8C4"/>
                </a:solidFill>
                <a:latin typeface="Calibri" pitchFamily="34" charset="0"/>
                <a:ea typeface="Calibri" pitchFamily="34" charset="-122"/>
                <a:cs typeface="Calibri" pitchFamily="34" charset="-120"/>
              </a:rPr>
              <a:t>WHY IT MATTERS</a:t>
            </a:r>
            <a:endParaRPr lang="en-US" sz="1100" dirty="0"/>
          </a:p>
        </p:txBody>
      </p:sp>
      <p:sp>
        <p:nvSpPr>
          <p:cNvPr id="25" name="Text 21"/>
          <p:cNvSpPr/>
          <p:nvPr/>
        </p:nvSpPr>
        <p:spPr>
          <a:xfrm>
            <a:off x="7635240" y="2377440"/>
            <a:ext cx="3703320" cy="1463040"/>
          </a:xfrm>
          <a:prstGeom prst="rect">
            <a:avLst/>
          </a:prstGeom>
          <a:noFill/>
          <a:ln/>
        </p:spPr>
        <p:txBody>
          <a:bodyPr wrap="square" rtlCol="0" anchor="ctr"/>
          <a:lstStyle/>
          <a:p>
            <a:pPr marL="0" indent="0">
              <a:lnSpc>
                <a:spcPts val="1900"/>
              </a:lnSpc>
              <a:buNone/>
            </a:pPr>
            <a:r>
              <a:rPr lang="en-US" sz="1250" i="1" dirty="0">
                <a:solidFill>
                  <a:srgbClr val="D6E4EC"/>
                </a:solidFill>
                <a:latin typeface="Calibri" pitchFamily="34" charset="0"/>
                <a:ea typeface="Calibri" pitchFamily="34" charset="-122"/>
                <a:cs typeface="Calibri" pitchFamily="34" charset="-120"/>
              </a:rPr>
              <a:t>A well-built dashboard turns thousands of rows into a few clear decisions — where to focus marketing, when discounting is worth it, and which customers to retain.</a:t>
            </a:r>
            <a:endParaRPr lang="en-US" sz="1250" dirty="0"/>
          </a:p>
        </p:txBody>
      </p:sp>
      <p:sp>
        <p:nvSpPr>
          <p:cNvPr id="26" name="Shape 22"/>
          <p:cNvSpPr/>
          <p:nvPr/>
        </p:nvSpPr>
        <p:spPr>
          <a:xfrm>
            <a:off x="7635240" y="3977640"/>
            <a:ext cx="3383280" cy="0"/>
          </a:xfrm>
          <a:prstGeom prst="line">
            <a:avLst/>
          </a:prstGeom>
          <a:noFill/>
          <a:ln w="12700">
            <a:solidFill>
              <a:srgbClr val="2C5772"/>
            </a:solidFill>
            <a:prstDash val="solid"/>
          </a:ln>
        </p:spPr>
      </p:sp>
      <p:sp>
        <p:nvSpPr>
          <p:cNvPr id="27" name="Text 23"/>
          <p:cNvSpPr/>
          <p:nvPr/>
        </p:nvSpPr>
        <p:spPr>
          <a:xfrm>
            <a:off x="7635240" y="4160520"/>
            <a:ext cx="3703320" cy="1371600"/>
          </a:xfrm>
          <a:prstGeom prst="rect">
            <a:avLst/>
          </a:prstGeom>
          <a:noFill/>
          <a:ln/>
        </p:spPr>
        <p:txBody>
          <a:bodyPr wrap="square" rtlCol="0" anchor="ctr"/>
          <a:lstStyle/>
          <a:p>
            <a:pPr marL="0" indent="0">
              <a:lnSpc>
                <a:spcPts val="2000"/>
              </a:lnSpc>
              <a:buNone/>
            </a:pPr>
            <a:r>
              <a:rPr lang="en-US" sz="1200" dirty="0">
                <a:solidFill>
                  <a:srgbClr val="D6E4EC"/>
                </a:solidFill>
                <a:latin typeface="Calibri" pitchFamily="34" charset="0"/>
                <a:ea typeface="Calibri" pitchFamily="34" charset="-122"/>
                <a:cs typeface="Calibri" pitchFamily="34" charset="-120"/>
              </a:rPr>
              <a:t>Scope: 100,000 transactions</a:t>
            </a:r>
            <a:endParaRPr lang="en-US" sz="1200" dirty="0"/>
          </a:p>
          <a:p>
            <a:pPr marL="0" indent="0">
              <a:lnSpc>
                <a:spcPts val="2000"/>
              </a:lnSpc>
              <a:buNone/>
            </a:pPr>
            <a:r>
              <a:rPr lang="en-US" sz="1200" dirty="0">
                <a:solidFill>
                  <a:srgbClr val="D6E4EC"/>
                </a:solidFill>
                <a:latin typeface="Calibri" pitchFamily="34" charset="0"/>
                <a:ea typeface="Calibri" pitchFamily="34" charset="-122"/>
                <a:cs typeface="Calibri" pitchFamily="34" charset="-120"/>
              </a:rPr>
              <a:t>200 products · 1,500 customers</a:t>
            </a:r>
            <a:endParaRPr lang="en-US" sz="1200" dirty="0"/>
          </a:p>
          <a:p>
            <a:pPr marL="0" indent="0">
              <a:lnSpc>
                <a:spcPts val="2000"/>
              </a:lnSpc>
              <a:buNone/>
            </a:pPr>
            <a:r>
              <a:rPr lang="en-US" sz="1200" dirty="0">
                <a:solidFill>
                  <a:srgbClr val="D6E4EC"/>
                </a:solidFill>
                <a:latin typeface="Calibri" pitchFamily="34" charset="0"/>
                <a:ea typeface="Calibri" pitchFamily="34" charset="-122"/>
                <a:cs typeface="Calibri" pitchFamily="34" charset="-120"/>
              </a:rPr>
              <a:t>2018 – 2024</a:t>
            </a:r>
            <a:endParaRPr lang="en-US" sz="1200" dirty="0"/>
          </a:p>
        </p:txBody>
      </p:sp>
      <p:sp>
        <p:nvSpPr>
          <p:cNvPr id="28" name="Shape 24"/>
          <p:cNvSpPr/>
          <p:nvPr/>
        </p:nvSpPr>
        <p:spPr>
          <a:xfrm>
            <a:off x="0" y="6784848"/>
            <a:ext cx="12188952" cy="73152"/>
          </a:xfrm>
          <a:prstGeom prst="rect">
            <a:avLst/>
          </a:prstGeom>
          <a:solidFill>
            <a:srgbClr val="0F6E8C"/>
          </a:solidFill>
          <a:ln/>
        </p:spPr>
      </p:sp>
      <p:sp>
        <p:nvSpPr>
          <p:cNvPr id="29" name="Text 25"/>
          <p:cNvSpPr/>
          <p:nvPr/>
        </p:nvSpPr>
        <p:spPr>
          <a:xfrm>
            <a:off x="457200" y="6510528"/>
            <a:ext cx="7315200" cy="256032"/>
          </a:xfrm>
          <a:prstGeom prst="rect">
            <a:avLst/>
          </a:prstGeom>
          <a:noFill/>
          <a:ln/>
        </p:spPr>
        <p:txBody>
          <a:bodyPr wrap="square" rtlCol="0" anchor="ctr"/>
          <a:lstStyle/>
          <a:p>
            <a:pPr marL="0" indent="0" algn="l">
              <a:buNone/>
            </a:pPr>
            <a:r>
              <a:rPr lang="en-US" sz="900" dirty="0">
                <a:solidFill>
                  <a:srgbClr val="66788A"/>
                </a:solidFill>
                <a:latin typeface="Calibri" pitchFamily="34" charset="0"/>
                <a:ea typeface="Calibri" pitchFamily="34" charset="-122"/>
                <a:cs typeface="Calibri" pitchFamily="34" charset="-120"/>
              </a:rPr>
              <a:t>Sales Performance Analysis — Power BI Project</a:t>
            </a:r>
            <a:endParaRPr lang="en-US" sz="900" dirty="0"/>
          </a:p>
        </p:txBody>
      </p:sp>
      <p:sp>
        <p:nvSpPr>
          <p:cNvPr id="30" name="Text 26"/>
          <p:cNvSpPr/>
          <p:nvPr/>
        </p:nvSpPr>
        <p:spPr>
          <a:xfrm>
            <a:off x="11521440" y="6510528"/>
            <a:ext cx="365760" cy="256032"/>
          </a:xfrm>
          <a:prstGeom prst="rect">
            <a:avLst/>
          </a:prstGeom>
          <a:noFill/>
          <a:ln/>
        </p:spPr>
        <p:txBody>
          <a:bodyPr wrap="square" rtlCol="0" anchor="ctr"/>
          <a:lstStyle/>
          <a:p>
            <a:pPr marL="0" indent="0" algn="r">
              <a:buNone/>
            </a:pPr>
            <a:r>
              <a:rPr lang="en-US" sz="900" dirty="0">
                <a:solidFill>
                  <a:srgbClr val="66788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F6E8C"/>
          </a:solidFill>
          <a:ln/>
        </p:spPr>
      </p:sp>
      <p:sp>
        <p:nvSpPr>
          <p:cNvPr id="3" name="Text 1"/>
          <p:cNvSpPr/>
          <p:nvPr/>
        </p:nvSpPr>
        <p:spPr>
          <a:xfrm>
            <a:off x="502920" y="411480"/>
            <a:ext cx="7315200" cy="274320"/>
          </a:xfrm>
          <a:prstGeom prst="rect">
            <a:avLst/>
          </a:prstGeom>
          <a:noFill/>
          <a:ln/>
        </p:spPr>
        <p:txBody>
          <a:bodyPr wrap="square" rtlCol="0" anchor="ctr"/>
          <a:lstStyle/>
          <a:p>
            <a:pPr marL="0" indent="0">
              <a:buNone/>
            </a:pPr>
            <a:r>
              <a:rPr lang="en-US" sz="1200" b="1" kern="0" spc="200" dirty="0">
                <a:solidFill>
                  <a:srgbClr val="0F6E8C"/>
                </a:solidFill>
                <a:latin typeface="Calibri" pitchFamily="34" charset="0"/>
                <a:ea typeface="Calibri" pitchFamily="34" charset="-122"/>
                <a:cs typeface="Calibri" pitchFamily="34" charset="-120"/>
              </a:rPr>
              <a:t>DATA STRUCTURE</a:t>
            </a:r>
            <a:endParaRPr lang="en-US" sz="1200" dirty="0"/>
          </a:p>
        </p:txBody>
      </p:sp>
      <p:sp>
        <p:nvSpPr>
          <p:cNvPr id="4" name="Text 2"/>
          <p:cNvSpPr/>
          <p:nvPr/>
        </p:nvSpPr>
        <p:spPr>
          <a:xfrm>
            <a:off x="502920" y="685800"/>
            <a:ext cx="9601200" cy="685800"/>
          </a:xfrm>
          <a:prstGeom prst="rect">
            <a:avLst/>
          </a:prstGeom>
          <a:noFill/>
          <a:ln/>
        </p:spPr>
        <p:txBody>
          <a:bodyPr wrap="square" rtlCol="0" anchor="ctr"/>
          <a:lstStyle/>
          <a:p>
            <a:pPr marL="0" indent="0">
              <a:buNone/>
            </a:pPr>
            <a:r>
              <a:rPr lang="en-US" sz="2800" b="1" dirty="0">
                <a:solidFill>
                  <a:srgbClr val="16324F"/>
                </a:solidFill>
                <a:latin typeface="Cambria" pitchFamily="34" charset="0"/>
                <a:ea typeface="Cambria" pitchFamily="34" charset="-122"/>
                <a:cs typeface="Cambria" pitchFamily="34" charset="-120"/>
              </a:rPr>
              <a:t>Table Design</a:t>
            </a:r>
            <a:endParaRPr lang="en-US" sz="2800" dirty="0"/>
          </a:p>
        </p:txBody>
      </p:sp>
      <p:sp>
        <p:nvSpPr>
          <p:cNvPr id="5" name="Shape 3"/>
          <p:cNvSpPr/>
          <p:nvPr/>
        </p:nvSpPr>
        <p:spPr>
          <a:xfrm>
            <a:off x="502920" y="1371600"/>
            <a:ext cx="1371600" cy="0"/>
          </a:xfrm>
          <a:prstGeom prst="line">
            <a:avLst/>
          </a:prstGeom>
          <a:noFill/>
          <a:ln w="31750">
            <a:solidFill>
              <a:srgbClr val="E08E45"/>
            </a:solidFill>
            <a:prstDash val="solid"/>
          </a:ln>
        </p:spPr>
      </p:sp>
      <p:sp>
        <p:nvSpPr>
          <p:cNvPr id="6" name="Shape 4"/>
          <p:cNvSpPr/>
          <p:nvPr/>
        </p:nvSpPr>
        <p:spPr>
          <a:xfrm>
            <a:off x="4709160" y="2743200"/>
            <a:ext cx="2743200" cy="1508760"/>
          </a:xfrm>
          <a:prstGeom prst="roundRect">
            <a:avLst>
              <a:gd name="adj" fmla="val 6061"/>
            </a:avLst>
          </a:prstGeom>
          <a:solidFill>
            <a:srgbClr val="0F6E8C"/>
          </a:solidFill>
          <a:ln/>
        </p:spPr>
      </p:sp>
      <p:sp>
        <p:nvSpPr>
          <p:cNvPr id="7" name="Text 5"/>
          <p:cNvSpPr/>
          <p:nvPr/>
        </p:nvSpPr>
        <p:spPr>
          <a:xfrm>
            <a:off x="4709160" y="2880360"/>
            <a:ext cx="2743200" cy="36576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FactSales</a:t>
            </a:r>
            <a:endParaRPr lang="en-US" sz="1600" dirty="0"/>
          </a:p>
        </p:txBody>
      </p:sp>
      <p:sp>
        <p:nvSpPr>
          <p:cNvPr id="8" name="Text 6"/>
          <p:cNvSpPr/>
          <p:nvPr/>
        </p:nvSpPr>
        <p:spPr>
          <a:xfrm>
            <a:off x="4709160" y="3246120"/>
            <a:ext cx="2743200" cy="914400"/>
          </a:xfrm>
          <a:prstGeom prst="rect">
            <a:avLst/>
          </a:prstGeom>
          <a:noFill/>
          <a:ln/>
        </p:spPr>
        <p:txBody>
          <a:bodyPr wrap="square" rtlCol="0" anchor="ctr"/>
          <a:lstStyle/>
          <a:p>
            <a:pPr marL="0" indent="0" algn="ctr">
              <a:lnSpc>
                <a:spcPts val="1500"/>
              </a:lnSpc>
              <a:buNone/>
            </a:pPr>
            <a:r>
              <a:rPr lang="en-US" sz="1100" dirty="0">
                <a:solidFill>
                  <a:srgbClr val="D6E4EC"/>
                </a:solidFill>
                <a:latin typeface="Calibri" pitchFamily="34" charset="0"/>
                <a:ea typeface="Calibri" pitchFamily="34" charset="-122"/>
                <a:cs typeface="Calibri" pitchFamily="34" charset="-120"/>
              </a:rPr>
              <a:t>100,000 rows</a:t>
            </a:r>
            <a:endParaRPr lang="en-US" sz="1100" dirty="0"/>
          </a:p>
          <a:p>
            <a:pPr marL="0" indent="0" algn="ctr">
              <a:lnSpc>
                <a:spcPts val="1500"/>
              </a:lnSpc>
              <a:buNone/>
            </a:pPr>
            <a:r>
              <a:rPr lang="en-US" sz="1100" dirty="0">
                <a:solidFill>
                  <a:srgbClr val="D6E4EC"/>
                </a:solidFill>
                <a:latin typeface="Calibri" pitchFamily="34" charset="0"/>
                <a:ea typeface="Calibri" pitchFamily="34" charset="-122"/>
                <a:cs typeface="Calibri" pitchFamily="34" charset="-120"/>
              </a:rPr>
              <a:t>Quantity · Price · Discount</a:t>
            </a:r>
            <a:endParaRPr lang="en-US" sz="1100" dirty="0"/>
          </a:p>
          <a:p>
            <a:pPr marL="0" indent="0" algn="ctr">
              <a:lnSpc>
                <a:spcPts val="1500"/>
              </a:lnSpc>
              <a:buNone/>
            </a:pPr>
            <a:r>
              <a:rPr lang="en-US" sz="1100" dirty="0">
                <a:solidFill>
                  <a:srgbClr val="D6E4EC"/>
                </a:solidFill>
                <a:latin typeface="Calibri" pitchFamily="34" charset="0"/>
                <a:ea typeface="Calibri" pitchFamily="34" charset="-122"/>
                <a:cs typeface="Calibri" pitchFamily="34" charset="-120"/>
              </a:rPr>
              <a:t>Sales · Cost · Profit</a:t>
            </a:r>
            <a:endParaRPr lang="en-US" sz="1100" dirty="0"/>
          </a:p>
        </p:txBody>
      </p:sp>
      <p:sp>
        <p:nvSpPr>
          <p:cNvPr id="9" name="Shape 7"/>
          <p:cNvSpPr/>
          <p:nvPr/>
        </p:nvSpPr>
        <p:spPr>
          <a:xfrm>
            <a:off x="685800" y="1554480"/>
            <a:ext cx="2697480" cy="1234440"/>
          </a:xfrm>
          <a:prstGeom prst="roundRect">
            <a:avLst>
              <a:gd name="adj" fmla="val 7407"/>
            </a:avLst>
          </a:prstGeom>
          <a:solidFill>
            <a:srgbClr val="5FA8C4"/>
          </a:solidFill>
          <a:ln/>
        </p:spPr>
      </p:sp>
      <p:sp>
        <p:nvSpPr>
          <p:cNvPr id="10" name="Text 8"/>
          <p:cNvSpPr/>
          <p:nvPr/>
        </p:nvSpPr>
        <p:spPr>
          <a:xfrm>
            <a:off x="685800" y="1673352"/>
            <a:ext cx="2697480" cy="32004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DimProduct</a:t>
            </a:r>
            <a:endParaRPr lang="en-US" sz="1400" dirty="0"/>
          </a:p>
        </p:txBody>
      </p:sp>
      <p:sp>
        <p:nvSpPr>
          <p:cNvPr id="11" name="Text 9"/>
          <p:cNvSpPr/>
          <p:nvPr/>
        </p:nvSpPr>
        <p:spPr>
          <a:xfrm>
            <a:off x="685800" y="1984248"/>
            <a:ext cx="2697480" cy="685800"/>
          </a:xfrm>
          <a:prstGeom prst="rect">
            <a:avLst/>
          </a:prstGeom>
          <a:noFill/>
          <a:ln/>
        </p:spPr>
        <p:txBody>
          <a:bodyPr wrap="square" rtlCol="0" anchor="ctr"/>
          <a:lstStyle/>
          <a:p>
            <a:pPr marL="0" indent="0" algn="ctr">
              <a:lnSpc>
                <a:spcPts val="1400"/>
              </a:lnSpc>
              <a:buNone/>
            </a:pPr>
            <a:r>
              <a:rPr lang="en-US" sz="1050" dirty="0">
                <a:solidFill>
                  <a:srgbClr val="EAF4F8"/>
                </a:solidFill>
                <a:latin typeface="Calibri" pitchFamily="34" charset="0"/>
                <a:ea typeface="Calibri" pitchFamily="34" charset="-122"/>
                <a:cs typeface="Calibri" pitchFamily="34" charset="-120"/>
              </a:rPr>
              <a:t>200 products</a:t>
            </a:r>
            <a:endParaRPr lang="en-US" sz="1050" dirty="0"/>
          </a:p>
          <a:p>
            <a:pPr marL="0" indent="0" algn="ctr">
              <a:lnSpc>
                <a:spcPts val="1400"/>
              </a:lnSpc>
              <a:buNone/>
            </a:pPr>
            <a:r>
              <a:rPr lang="en-US" sz="1050" dirty="0">
                <a:solidFill>
                  <a:srgbClr val="EAF4F8"/>
                </a:solidFill>
                <a:latin typeface="Calibri" pitchFamily="34" charset="0"/>
                <a:ea typeface="Calibri" pitchFamily="34" charset="-122"/>
                <a:cs typeface="Calibri" pitchFamily="34" charset="-120"/>
              </a:rPr>
              <a:t>Category · SubCategory · Size</a:t>
            </a:r>
            <a:endParaRPr lang="en-US" sz="1050" dirty="0"/>
          </a:p>
        </p:txBody>
      </p:sp>
      <p:sp>
        <p:nvSpPr>
          <p:cNvPr id="12" name="Shape 10"/>
          <p:cNvSpPr/>
          <p:nvPr/>
        </p:nvSpPr>
        <p:spPr>
          <a:xfrm>
            <a:off x="8778240" y="1554480"/>
            <a:ext cx="2697480" cy="1234440"/>
          </a:xfrm>
          <a:prstGeom prst="roundRect">
            <a:avLst>
              <a:gd name="adj" fmla="val 7407"/>
            </a:avLst>
          </a:prstGeom>
          <a:solidFill>
            <a:srgbClr val="5FA8C4"/>
          </a:solidFill>
          <a:ln/>
        </p:spPr>
      </p:sp>
      <p:sp>
        <p:nvSpPr>
          <p:cNvPr id="13" name="Text 11"/>
          <p:cNvSpPr/>
          <p:nvPr/>
        </p:nvSpPr>
        <p:spPr>
          <a:xfrm>
            <a:off x="8778240" y="1673352"/>
            <a:ext cx="2697480" cy="32004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DimCustomer</a:t>
            </a:r>
            <a:endParaRPr lang="en-US" sz="1400" dirty="0"/>
          </a:p>
        </p:txBody>
      </p:sp>
      <p:sp>
        <p:nvSpPr>
          <p:cNvPr id="14" name="Text 12"/>
          <p:cNvSpPr/>
          <p:nvPr/>
        </p:nvSpPr>
        <p:spPr>
          <a:xfrm>
            <a:off x="8778240" y="1984248"/>
            <a:ext cx="2697480" cy="685800"/>
          </a:xfrm>
          <a:prstGeom prst="rect">
            <a:avLst/>
          </a:prstGeom>
          <a:noFill/>
          <a:ln/>
        </p:spPr>
        <p:txBody>
          <a:bodyPr wrap="square" rtlCol="0" anchor="ctr"/>
          <a:lstStyle/>
          <a:p>
            <a:pPr marL="0" indent="0" algn="ctr">
              <a:lnSpc>
                <a:spcPts val="1400"/>
              </a:lnSpc>
              <a:buNone/>
            </a:pPr>
            <a:r>
              <a:rPr lang="en-US" sz="1050" dirty="0">
                <a:solidFill>
                  <a:srgbClr val="EAF4F8"/>
                </a:solidFill>
                <a:latin typeface="Calibri" pitchFamily="34" charset="0"/>
                <a:ea typeface="Calibri" pitchFamily="34" charset="-122"/>
                <a:cs typeface="Calibri" pitchFamily="34" charset="-120"/>
              </a:rPr>
              <a:t>1,500 customers</a:t>
            </a:r>
            <a:endParaRPr lang="en-US" sz="1050" dirty="0"/>
          </a:p>
          <a:p>
            <a:pPr marL="0" indent="0" algn="ctr">
              <a:lnSpc>
                <a:spcPts val="1400"/>
              </a:lnSpc>
              <a:buNone/>
            </a:pPr>
            <a:r>
              <a:rPr lang="en-US" sz="1050" dirty="0">
                <a:solidFill>
                  <a:srgbClr val="EAF4F8"/>
                </a:solidFill>
                <a:latin typeface="Calibri" pitchFamily="34" charset="0"/>
                <a:ea typeface="Calibri" pitchFamily="34" charset="-122"/>
                <a:cs typeface="Calibri" pitchFamily="34" charset="-120"/>
              </a:rPr>
              <a:t>Loyalty Tier · Signup Date</a:t>
            </a:r>
            <a:endParaRPr lang="en-US" sz="1050" dirty="0"/>
          </a:p>
        </p:txBody>
      </p:sp>
      <p:sp>
        <p:nvSpPr>
          <p:cNvPr id="16" name="Text 14"/>
          <p:cNvSpPr/>
          <p:nvPr/>
        </p:nvSpPr>
        <p:spPr>
          <a:xfrm>
            <a:off x="4709160" y="4773168"/>
            <a:ext cx="2743200" cy="32004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DateTable</a:t>
            </a:r>
            <a:endParaRPr lang="en-US" sz="1400" dirty="0"/>
          </a:p>
        </p:txBody>
      </p:sp>
      <p:sp>
        <p:nvSpPr>
          <p:cNvPr id="17" name="Text 15"/>
          <p:cNvSpPr/>
          <p:nvPr/>
        </p:nvSpPr>
        <p:spPr>
          <a:xfrm>
            <a:off x="4709160" y="5074920"/>
            <a:ext cx="2743200" cy="320040"/>
          </a:xfrm>
          <a:prstGeom prst="rect">
            <a:avLst/>
          </a:prstGeom>
          <a:noFill/>
          <a:ln/>
        </p:spPr>
        <p:txBody>
          <a:bodyPr wrap="square" rtlCol="0" anchor="ctr"/>
          <a:lstStyle/>
          <a:p>
            <a:pPr marL="0" indent="0" algn="ctr">
              <a:buNone/>
            </a:pPr>
            <a:r>
              <a:rPr lang="en-US" sz="1050" dirty="0">
                <a:solidFill>
                  <a:srgbClr val="EAF4F8"/>
                </a:solidFill>
                <a:latin typeface="Calibri" pitchFamily="34" charset="0"/>
                <a:ea typeface="Calibri" pitchFamily="34" charset="-122"/>
                <a:cs typeface="Calibri" pitchFamily="34" charset="-120"/>
              </a:rPr>
              <a:t>2018 – 2024, daily calendar</a:t>
            </a:r>
            <a:endParaRPr lang="en-US" sz="1050" dirty="0"/>
          </a:p>
        </p:txBody>
      </p:sp>
      <p:sp>
        <p:nvSpPr>
          <p:cNvPr id="18" name="Shape 16"/>
          <p:cNvSpPr/>
          <p:nvPr/>
        </p:nvSpPr>
        <p:spPr>
          <a:xfrm>
            <a:off x="3383280" y="2176272"/>
            <a:ext cx="1325880" cy="777240"/>
          </a:xfrm>
          <a:prstGeom prst="line">
            <a:avLst/>
          </a:prstGeom>
          <a:noFill/>
          <a:ln w="19050">
            <a:solidFill>
              <a:srgbClr val="9FB4C2"/>
            </a:solidFill>
            <a:prstDash val="solid"/>
          </a:ln>
        </p:spPr>
      </p:sp>
      <p:sp>
        <p:nvSpPr>
          <p:cNvPr id="19" name="Shape 17"/>
          <p:cNvSpPr/>
          <p:nvPr/>
        </p:nvSpPr>
        <p:spPr>
          <a:xfrm flipH="1">
            <a:off x="7452360" y="2176272"/>
            <a:ext cx="1325880" cy="777240"/>
          </a:xfrm>
          <a:prstGeom prst="line">
            <a:avLst/>
          </a:prstGeom>
          <a:noFill/>
          <a:ln w="19050">
            <a:solidFill>
              <a:srgbClr val="9FB4C2"/>
            </a:solidFill>
            <a:prstDash val="solid"/>
          </a:ln>
        </p:spPr>
      </p:sp>
      <p:sp>
        <p:nvSpPr>
          <p:cNvPr id="21" name="Text 19"/>
          <p:cNvSpPr/>
          <p:nvPr/>
        </p:nvSpPr>
        <p:spPr>
          <a:xfrm>
            <a:off x="502920" y="5989320"/>
            <a:ext cx="10515600" cy="320040"/>
          </a:xfrm>
          <a:prstGeom prst="rect">
            <a:avLst/>
          </a:prstGeom>
          <a:noFill/>
          <a:ln/>
        </p:spPr>
        <p:txBody>
          <a:bodyPr wrap="square" rtlCol="0" anchor="ctr"/>
          <a:lstStyle/>
          <a:p>
            <a:pPr marL="0" indent="0">
              <a:buNone/>
            </a:pPr>
            <a:r>
              <a:rPr lang="en-US" sz="1150" i="1" dirty="0">
                <a:solidFill>
                  <a:srgbClr val="66788A"/>
                </a:solidFill>
                <a:latin typeface="Calibri" pitchFamily="34" charset="0"/>
                <a:ea typeface="Calibri" pitchFamily="34" charset="-122"/>
                <a:cs typeface="Calibri" pitchFamily="34" charset="-120"/>
              </a:rPr>
              <a:t>Each dimension table connects to FactSales in a one-to-many relationship, forming a star schema.</a:t>
            </a:r>
            <a:endParaRPr lang="en-US" sz="1150" dirty="0"/>
          </a:p>
        </p:txBody>
      </p:sp>
      <p:sp>
        <p:nvSpPr>
          <p:cNvPr id="22" name="Shape 20"/>
          <p:cNvSpPr/>
          <p:nvPr/>
        </p:nvSpPr>
        <p:spPr>
          <a:xfrm>
            <a:off x="0" y="6784848"/>
            <a:ext cx="12188952" cy="73152"/>
          </a:xfrm>
          <a:prstGeom prst="rect">
            <a:avLst/>
          </a:prstGeom>
          <a:solidFill>
            <a:srgbClr val="0F6E8C"/>
          </a:solidFill>
          <a:ln/>
        </p:spPr>
      </p:sp>
      <p:sp>
        <p:nvSpPr>
          <p:cNvPr id="23" name="Text 21"/>
          <p:cNvSpPr/>
          <p:nvPr/>
        </p:nvSpPr>
        <p:spPr>
          <a:xfrm>
            <a:off x="457200" y="6510528"/>
            <a:ext cx="7315200" cy="256032"/>
          </a:xfrm>
          <a:prstGeom prst="rect">
            <a:avLst/>
          </a:prstGeom>
          <a:noFill/>
          <a:ln/>
        </p:spPr>
        <p:txBody>
          <a:bodyPr wrap="square" rtlCol="0" anchor="ctr"/>
          <a:lstStyle/>
          <a:p>
            <a:pPr marL="0" indent="0" algn="l">
              <a:buNone/>
            </a:pPr>
            <a:r>
              <a:rPr lang="en-US" sz="900" dirty="0">
                <a:solidFill>
                  <a:srgbClr val="66788A"/>
                </a:solidFill>
                <a:latin typeface="Calibri" pitchFamily="34" charset="0"/>
                <a:ea typeface="Calibri" pitchFamily="34" charset="-122"/>
                <a:cs typeface="Calibri" pitchFamily="34" charset="-120"/>
              </a:rPr>
              <a:t>Sales Performance Analysis — Power BI Project</a:t>
            </a:r>
            <a:endParaRPr lang="en-US" sz="900" dirty="0"/>
          </a:p>
        </p:txBody>
      </p:sp>
      <p:sp>
        <p:nvSpPr>
          <p:cNvPr id="24" name="Text 22"/>
          <p:cNvSpPr/>
          <p:nvPr/>
        </p:nvSpPr>
        <p:spPr>
          <a:xfrm>
            <a:off x="11521440" y="6510528"/>
            <a:ext cx="365760" cy="256032"/>
          </a:xfrm>
          <a:prstGeom prst="rect">
            <a:avLst/>
          </a:prstGeom>
          <a:noFill/>
          <a:ln/>
        </p:spPr>
        <p:txBody>
          <a:bodyPr wrap="square" rtlCol="0" anchor="ctr"/>
          <a:lstStyle/>
          <a:p>
            <a:pPr marL="0" indent="0" algn="r">
              <a:buNone/>
            </a:pPr>
            <a:r>
              <a:rPr lang="en-US" sz="900" dirty="0">
                <a:solidFill>
                  <a:srgbClr val="66788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F6E8C"/>
          </a:solidFill>
          <a:ln/>
        </p:spPr>
      </p:sp>
      <p:sp>
        <p:nvSpPr>
          <p:cNvPr id="3" name="Text 1"/>
          <p:cNvSpPr/>
          <p:nvPr/>
        </p:nvSpPr>
        <p:spPr>
          <a:xfrm>
            <a:off x="502920" y="411480"/>
            <a:ext cx="7315200" cy="274320"/>
          </a:xfrm>
          <a:prstGeom prst="rect">
            <a:avLst/>
          </a:prstGeom>
          <a:noFill/>
          <a:ln/>
        </p:spPr>
        <p:txBody>
          <a:bodyPr wrap="square" rtlCol="0" anchor="ctr"/>
          <a:lstStyle/>
          <a:p>
            <a:pPr marL="0" indent="0">
              <a:buNone/>
            </a:pPr>
            <a:r>
              <a:rPr lang="en-US" sz="1200" b="1" kern="0" spc="200" dirty="0">
                <a:solidFill>
                  <a:srgbClr val="0F6E8C"/>
                </a:solidFill>
                <a:latin typeface="Calibri" pitchFamily="34" charset="0"/>
                <a:ea typeface="Calibri" pitchFamily="34" charset="-122"/>
                <a:cs typeface="Calibri" pitchFamily="34" charset="-120"/>
              </a:rPr>
              <a:t>FOUNDATION</a:t>
            </a:r>
            <a:endParaRPr lang="en-US" sz="1200" dirty="0"/>
          </a:p>
        </p:txBody>
      </p:sp>
      <p:sp>
        <p:nvSpPr>
          <p:cNvPr id="4" name="Text 2"/>
          <p:cNvSpPr/>
          <p:nvPr/>
        </p:nvSpPr>
        <p:spPr>
          <a:xfrm>
            <a:off x="502920" y="685800"/>
            <a:ext cx="9601200" cy="685800"/>
          </a:xfrm>
          <a:prstGeom prst="rect">
            <a:avLst/>
          </a:prstGeom>
          <a:noFill/>
          <a:ln/>
        </p:spPr>
        <p:txBody>
          <a:bodyPr wrap="square" rtlCol="0" anchor="ctr"/>
          <a:lstStyle/>
          <a:p>
            <a:pPr marL="0" indent="0">
              <a:buNone/>
            </a:pPr>
            <a:r>
              <a:rPr lang="en-US" sz="2800" b="1" dirty="0">
                <a:solidFill>
                  <a:srgbClr val="16324F"/>
                </a:solidFill>
                <a:latin typeface="Cambria" pitchFamily="34" charset="0"/>
                <a:ea typeface="Cambria" pitchFamily="34" charset="-122"/>
                <a:cs typeface="Cambria" pitchFamily="34" charset="-120"/>
              </a:rPr>
              <a:t>Dataset &amp; Technology</a:t>
            </a:r>
            <a:endParaRPr lang="en-US" sz="2800" dirty="0"/>
          </a:p>
        </p:txBody>
      </p:sp>
      <p:sp>
        <p:nvSpPr>
          <p:cNvPr id="5" name="Shape 3"/>
          <p:cNvSpPr/>
          <p:nvPr/>
        </p:nvSpPr>
        <p:spPr>
          <a:xfrm>
            <a:off x="502920" y="1371600"/>
            <a:ext cx="1371600" cy="0"/>
          </a:xfrm>
          <a:prstGeom prst="line">
            <a:avLst/>
          </a:prstGeom>
          <a:noFill/>
          <a:ln w="31750">
            <a:solidFill>
              <a:srgbClr val="E08E45"/>
            </a:solidFill>
            <a:prstDash val="solid"/>
          </a:ln>
        </p:spPr>
      </p:sp>
      <p:sp>
        <p:nvSpPr>
          <p:cNvPr id="6" name="Text 4"/>
          <p:cNvSpPr/>
          <p:nvPr/>
        </p:nvSpPr>
        <p:spPr>
          <a:xfrm>
            <a:off x="502920" y="1691640"/>
            <a:ext cx="4572000" cy="365760"/>
          </a:xfrm>
          <a:prstGeom prst="rect">
            <a:avLst/>
          </a:prstGeom>
          <a:noFill/>
          <a:ln/>
        </p:spPr>
        <p:txBody>
          <a:bodyPr wrap="square" rtlCol="0" anchor="ctr"/>
          <a:lstStyle/>
          <a:p>
            <a:pPr marL="0" indent="0">
              <a:buNone/>
            </a:pPr>
            <a:r>
              <a:rPr lang="en-US" sz="1600" b="1" dirty="0">
                <a:solidFill>
                  <a:srgbClr val="16324F"/>
                </a:solidFill>
                <a:latin typeface="Cambria" pitchFamily="34" charset="0"/>
                <a:ea typeface="Cambria" pitchFamily="34" charset="-122"/>
                <a:cs typeface="Cambria" pitchFamily="34" charset="-120"/>
              </a:rPr>
              <a:t>Dataset</a:t>
            </a:r>
            <a:endParaRPr lang="en-US" sz="1600" dirty="0"/>
          </a:p>
        </p:txBody>
      </p:sp>
      <p:sp>
        <p:nvSpPr>
          <p:cNvPr id="7" name="Shape 5"/>
          <p:cNvSpPr/>
          <p:nvPr/>
        </p:nvSpPr>
        <p:spPr>
          <a:xfrm>
            <a:off x="502920" y="2148840"/>
            <a:ext cx="2468880" cy="1371600"/>
          </a:xfrm>
          <a:prstGeom prst="roundRect">
            <a:avLst>
              <a:gd name="adj" fmla="val 6667"/>
            </a:avLst>
          </a:prstGeom>
          <a:solidFill>
            <a:srgbClr val="FFFFFF"/>
          </a:solidFill>
          <a:ln w="12700">
            <a:solidFill>
              <a:srgbClr val="E3E8EC"/>
            </a:solidFill>
            <a:prstDash val="solid"/>
          </a:ln>
        </p:spPr>
      </p:sp>
      <p:sp>
        <p:nvSpPr>
          <p:cNvPr id="8" name="Text 6"/>
          <p:cNvSpPr/>
          <p:nvPr/>
        </p:nvSpPr>
        <p:spPr>
          <a:xfrm>
            <a:off x="640080" y="2286000"/>
            <a:ext cx="2194560" cy="548640"/>
          </a:xfrm>
          <a:prstGeom prst="rect">
            <a:avLst/>
          </a:prstGeom>
          <a:noFill/>
          <a:ln/>
        </p:spPr>
        <p:txBody>
          <a:bodyPr wrap="square" rtlCol="0" anchor="ctr"/>
          <a:lstStyle/>
          <a:p>
            <a:pPr marL="0" indent="0">
              <a:buNone/>
            </a:pPr>
            <a:r>
              <a:rPr lang="en-US" sz="2200" b="1" dirty="0">
                <a:solidFill>
                  <a:srgbClr val="0F6E8C"/>
                </a:solidFill>
                <a:latin typeface="Cambria" pitchFamily="34" charset="0"/>
                <a:ea typeface="Cambria" pitchFamily="34" charset="-122"/>
                <a:cs typeface="Cambria" pitchFamily="34" charset="-120"/>
              </a:rPr>
              <a:t>100,000</a:t>
            </a:r>
            <a:endParaRPr lang="en-US" sz="2200" dirty="0"/>
          </a:p>
        </p:txBody>
      </p:sp>
      <p:sp>
        <p:nvSpPr>
          <p:cNvPr id="9" name="Text 7"/>
          <p:cNvSpPr/>
          <p:nvPr/>
        </p:nvSpPr>
        <p:spPr>
          <a:xfrm>
            <a:off x="640080" y="2834640"/>
            <a:ext cx="2194560" cy="548640"/>
          </a:xfrm>
          <a:prstGeom prst="rect">
            <a:avLst/>
          </a:prstGeom>
          <a:noFill/>
          <a:ln/>
        </p:spPr>
        <p:txBody>
          <a:bodyPr wrap="square" rtlCol="0" anchor="ctr"/>
          <a:lstStyle/>
          <a:p>
            <a:pPr marL="0" indent="0">
              <a:buNone/>
            </a:pPr>
            <a:r>
              <a:rPr lang="en-US" sz="1100" dirty="0">
                <a:solidFill>
                  <a:srgbClr val="66788A"/>
                </a:solidFill>
                <a:latin typeface="Calibri" pitchFamily="34" charset="0"/>
                <a:ea typeface="Calibri" pitchFamily="34" charset="-122"/>
                <a:cs typeface="Calibri" pitchFamily="34" charset="-120"/>
              </a:rPr>
              <a:t>Sales transactions</a:t>
            </a:r>
            <a:endParaRPr lang="en-US" sz="1100" dirty="0"/>
          </a:p>
        </p:txBody>
      </p:sp>
      <p:sp>
        <p:nvSpPr>
          <p:cNvPr id="10" name="Shape 8"/>
          <p:cNvSpPr/>
          <p:nvPr/>
        </p:nvSpPr>
        <p:spPr>
          <a:xfrm>
            <a:off x="3108960" y="2148840"/>
            <a:ext cx="2468880" cy="1371600"/>
          </a:xfrm>
          <a:prstGeom prst="roundRect">
            <a:avLst>
              <a:gd name="adj" fmla="val 6667"/>
            </a:avLst>
          </a:prstGeom>
          <a:solidFill>
            <a:srgbClr val="FFFFFF"/>
          </a:solidFill>
          <a:ln w="12700">
            <a:solidFill>
              <a:srgbClr val="E3E8EC"/>
            </a:solidFill>
            <a:prstDash val="solid"/>
          </a:ln>
        </p:spPr>
      </p:sp>
      <p:sp>
        <p:nvSpPr>
          <p:cNvPr id="11" name="Text 9"/>
          <p:cNvSpPr/>
          <p:nvPr/>
        </p:nvSpPr>
        <p:spPr>
          <a:xfrm>
            <a:off x="3246120" y="2286000"/>
            <a:ext cx="2194560" cy="548640"/>
          </a:xfrm>
          <a:prstGeom prst="rect">
            <a:avLst/>
          </a:prstGeom>
          <a:noFill/>
          <a:ln/>
        </p:spPr>
        <p:txBody>
          <a:bodyPr wrap="square" rtlCol="0" anchor="ctr"/>
          <a:lstStyle/>
          <a:p>
            <a:pPr marL="0" indent="0">
              <a:buNone/>
            </a:pPr>
            <a:r>
              <a:rPr lang="en-US" sz="2200" b="1" dirty="0">
                <a:solidFill>
                  <a:srgbClr val="0F6E8C"/>
                </a:solidFill>
                <a:latin typeface="Cambria" pitchFamily="34" charset="0"/>
                <a:ea typeface="Cambria" pitchFamily="34" charset="-122"/>
                <a:cs typeface="Cambria" pitchFamily="34" charset="-120"/>
              </a:rPr>
              <a:t>200</a:t>
            </a:r>
            <a:endParaRPr lang="en-US" sz="2200" dirty="0"/>
          </a:p>
        </p:txBody>
      </p:sp>
      <p:sp>
        <p:nvSpPr>
          <p:cNvPr id="12" name="Text 10"/>
          <p:cNvSpPr/>
          <p:nvPr/>
        </p:nvSpPr>
        <p:spPr>
          <a:xfrm>
            <a:off x="3246120" y="2834640"/>
            <a:ext cx="2194560" cy="548640"/>
          </a:xfrm>
          <a:prstGeom prst="rect">
            <a:avLst/>
          </a:prstGeom>
          <a:noFill/>
          <a:ln/>
        </p:spPr>
        <p:txBody>
          <a:bodyPr wrap="square" rtlCol="0" anchor="ctr"/>
          <a:lstStyle/>
          <a:p>
            <a:pPr marL="0" indent="0">
              <a:buNone/>
            </a:pPr>
            <a:r>
              <a:rPr lang="en-US" sz="1100" dirty="0">
                <a:solidFill>
                  <a:srgbClr val="66788A"/>
                </a:solidFill>
                <a:latin typeface="Calibri" pitchFamily="34" charset="0"/>
                <a:ea typeface="Calibri" pitchFamily="34" charset="-122"/>
                <a:cs typeface="Calibri" pitchFamily="34" charset="-120"/>
              </a:rPr>
              <a:t>Products</a:t>
            </a:r>
            <a:endParaRPr lang="en-US" sz="1100" dirty="0"/>
          </a:p>
        </p:txBody>
      </p:sp>
      <p:sp>
        <p:nvSpPr>
          <p:cNvPr id="13" name="Shape 11"/>
          <p:cNvSpPr/>
          <p:nvPr/>
        </p:nvSpPr>
        <p:spPr>
          <a:xfrm>
            <a:off x="5715000" y="2148840"/>
            <a:ext cx="2468880" cy="1371600"/>
          </a:xfrm>
          <a:prstGeom prst="roundRect">
            <a:avLst>
              <a:gd name="adj" fmla="val 6667"/>
            </a:avLst>
          </a:prstGeom>
          <a:solidFill>
            <a:srgbClr val="FFFFFF"/>
          </a:solidFill>
          <a:ln w="12700">
            <a:solidFill>
              <a:srgbClr val="E3E8EC"/>
            </a:solidFill>
            <a:prstDash val="solid"/>
          </a:ln>
        </p:spPr>
      </p:sp>
      <p:sp>
        <p:nvSpPr>
          <p:cNvPr id="14" name="Text 12"/>
          <p:cNvSpPr/>
          <p:nvPr/>
        </p:nvSpPr>
        <p:spPr>
          <a:xfrm>
            <a:off x="5852160" y="2286000"/>
            <a:ext cx="2194560" cy="548640"/>
          </a:xfrm>
          <a:prstGeom prst="rect">
            <a:avLst/>
          </a:prstGeom>
          <a:noFill/>
          <a:ln/>
        </p:spPr>
        <p:txBody>
          <a:bodyPr wrap="square" rtlCol="0" anchor="ctr"/>
          <a:lstStyle/>
          <a:p>
            <a:pPr marL="0" indent="0">
              <a:buNone/>
            </a:pPr>
            <a:r>
              <a:rPr lang="en-US" sz="2200" b="1" dirty="0">
                <a:solidFill>
                  <a:srgbClr val="0F6E8C"/>
                </a:solidFill>
                <a:latin typeface="Cambria" pitchFamily="34" charset="0"/>
                <a:ea typeface="Cambria" pitchFamily="34" charset="-122"/>
                <a:cs typeface="Cambria" pitchFamily="34" charset="-120"/>
              </a:rPr>
              <a:t>1,500</a:t>
            </a:r>
            <a:endParaRPr lang="en-US" sz="2200" dirty="0"/>
          </a:p>
        </p:txBody>
      </p:sp>
      <p:sp>
        <p:nvSpPr>
          <p:cNvPr id="15" name="Text 13"/>
          <p:cNvSpPr/>
          <p:nvPr/>
        </p:nvSpPr>
        <p:spPr>
          <a:xfrm>
            <a:off x="5852160" y="2834640"/>
            <a:ext cx="2194560" cy="548640"/>
          </a:xfrm>
          <a:prstGeom prst="rect">
            <a:avLst/>
          </a:prstGeom>
          <a:noFill/>
          <a:ln/>
        </p:spPr>
        <p:txBody>
          <a:bodyPr wrap="square" rtlCol="0" anchor="ctr"/>
          <a:lstStyle/>
          <a:p>
            <a:pPr marL="0" indent="0">
              <a:buNone/>
            </a:pPr>
            <a:r>
              <a:rPr lang="en-US" sz="1100" dirty="0">
                <a:solidFill>
                  <a:srgbClr val="66788A"/>
                </a:solidFill>
                <a:latin typeface="Calibri" pitchFamily="34" charset="0"/>
                <a:ea typeface="Calibri" pitchFamily="34" charset="-122"/>
                <a:cs typeface="Calibri" pitchFamily="34" charset="-120"/>
              </a:rPr>
              <a:t>Customers</a:t>
            </a:r>
            <a:endParaRPr lang="en-US" sz="1100" dirty="0"/>
          </a:p>
        </p:txBody>
      </p:sp>
      <p:sp>
        <p:nvSpPr>
          <p:cNvPr id="16" name="Shape 14"/>
          <p:cNvSpPr/>
          <p:nvPr/>
        </p:nvSpPr>
        <p:spPr>
          <a:xfrm>
            <a:off x="8321040" y="2148840"/>
            <a:ext cx="2468880" cy="1371600"/>
          </a:xfrm>
          <a:prstGeom prst="roundRect">
            <a:avLst>
              <a:gd name="adj" fmla="val 6667"/>
            </a:avLst>
          </a:prstGeom>
          <a:solidFill>
            <a:srgbClr val="FFFFFF"/>
          </a:solidFill>
          <a:ln w="12700">
            <a:solidFill>
              <a:srgbClr val="E3E8EC"/>
            </a:solidFill>
            <a:prstDash val="solid"/>
          </a:ln>
        </p:spPr>
      </p:sp>
      <p:sp>
        <p:nvSpPr>
          <p:cNvPr id="17" name="Text 15"/>
          <p:cNvSpPr/>
          <p:nvPr/>
        </p:nvSpPr>
        <p:spPr>
          <a:xfrm>
            <a:off x="8458200" y="2286000"/>
            <a:ext cx="2194560" cy="548640"/>
          </a:xfrm>
          <a:prstGeom prst="rect">
            <a:avLst/>
          </a:prstGeom>
          <a:noFill/>
          <a:ln/>
        </p:spPr>
        <p:txBody>
          <a:bodyPr wrap="square" rtlCol="0" anchor="ctr"/>
          <a:lstStyle/>
          <a:p>
            <a:pPr marL="0" indent="0">
              <a:buNone/>
            </a:pPr>
            <a:r>
              <a:rPr lang="en-US" sz="2200" b="1" dirty="0">
                <a:solidFill>
                  <a:srgbClr val="0F6E8C"/>
                </a:solidFill>
                <a:latin typeface="Cambria" pitchFamily="34" charset="0"/>
                <a:ea typeface="Cambria" pitchFamily="34" charset="-122"/>
                <a:cs typeface="Cambria" pitchFamily="34" charset="-120"/>
              </a:rPr>
              <a:t>7 years</a:t>
            </a:r>
            <a:endParaRPr lang="en-US" sz="2200" dirty="0"/>
          </a:p>
        </p:txBody>
      </p:sp>
      <p:sp>
        <p:nvSpPr>
          <p:cNvPr id="18" name="Text 16"/>
          <p:cNvSpPr/>
          <p:nvPr/>
        </p:nvSpPr>
        <p:spPr>
          <a:xfrm>
            <a:off x="8458200" y="2834640"/>
            <a:ext cx="2194560" cy="548640"/>
          </a:xfrm>
          <a:prstGeom prst="rect">
            <a:avLst/>
          </a:prstGeom>
          <a:noFill/>
          <a:ln/>
        </p:spPr>
        <p:txBody>
          <a:bodyPr wrap="square" rtlCol="0" anchor="ctr"/>
          <a:lstStyle/>
          <a:p>
            <a:pPr marL="0" indent="0">
              <a:buNone/>
            </a:pPr>
            <a:r>
              <a:rPr lang="en-US" sz="1100" dirty="0">
                <a:solidFill>
                  <a:srgbClr val="66788A"/>
                </a:solidFill>
                <a:latin typeface="Calibri" pitchFamily="34" charset="0"/>
                <a:ea typeface="Calibri" pitchFamily="34" charset="-122"/>
                <a:cs typeface="Calibri" pitchFamily="34" charset="-120"/>
              </a:rPr>
              <a:t>2018 – 2024 coverage</a:t>
            </a:r>
            <a:endParaRPr lang="en-US" sz="1100" dirty="0"/>
          </a:p>
        </p:txBody>
      </p:sp>
      <p:sp>
        <p:nvSpPr>
          <p:cNvPr id="19" name="Text 17"/>
          <p:cNvSpPr/>
          <p:nvPr/>
        </p:nvSpPr>
        <p:spPr>
          <a:xfrm>
            <a:off x="502920" y="3886200"/>
            <a:ext cx="4572000" cy="365760"/>
          </a:xfrm>
          <a:prstGeom prst="rect">
            <a:avLst/>
          </a:prstGeom>
          <a:noFill/>
          <a:ln/>
        </p:spPr>
        <p:txBody>
          <a:bodyPr wrap="square" rtlCol="0" anchor="ctr"/>
          <a:lstStyle/>
          <a:p>
            <a:pPr marL="0" indent="0">
              <a:buNone/>
            </a:pPr>
            <a:r>
              <a:rPr lang="en-US" sz="1600" b="1" dirty="0">
                <a:solidFill>
                  <a:srgbClr val="16324F"/>
                </a:solidFill>
                <a:latin typeface="Cambria" pitchFamily="34" charset="0"/>
                <a:ea typeface="Cambria" pitchFamily="34" charset="-122"/>
                <a:cs typeface="Cambria" pitchFamily="34" charset="-120"/>
              </a:rPr>
              <a:t>Technology Used</a:t>
            </a:r>
            <a:endParaRPr lang="en-US" sz="1600" dirty="0"/>
          </a:p>
        </p:txBody>
      </p:sp>
      <p:sp>
        <p:nvSpPr>
          <p:cNvPr id="20" name="Shape 18"/>
          <p:cNvSpPr/>
          <p:nvPr/>
        </p:nvSpPr>
        <p:spPr>
          <a:xfrm>
            <a:off x="502920" y="4343400"/>
            <a:ext cx="2468880" cy="1691640"/>
          </a:xfrm>
          <a:prstGeom prst="roundRect">
            <a:avLst>
              <a:gd name="adj" fmla="val 5405"/>
            </a:avLst>
          </a:prstGeom>
          <a:solidFill>
            <a:srgbClr val="FFFFFF"/>
          </a:solidFill>
          <a:ln w="12700">
            <a:solidFill>
              <a:srgbClr val="E3E8EC"/>
            </a:solidFill>
            <a:prstDash val="solid"/>
          </a:ln>
        </p:spPr>
      </p:sp>
      <p:sp>
        <p:nvSpPr>
          <p:cNvPr id="21" name="Shape 19"/>
          <p:cNvSpPr/>
          <p:nvPr/>
        </p:nvSpPr>
        <p:spPr>
          <a:xfrm>
            <a:off x="704088" y="4526280"/>
            <a:ext cx="457200" cy="457200"/>
          </a:xfrm>
          <a:prstGeom prst="roundRect">
            <a:avLst>
              <a:gd name="adj" fmla="val 18000"/>
            </a:avLst>
          </a:prstGeom>
          <a:solidFill>
            <a:srgbClr val="0F6E8C"/>
          </a:solidFill>
          <a:ln/>
        </p:spPr>
      </p:sp>
      <p:pic>
        <p:nvPicPr>
          <p:cNvPr id="22" name="Image 0" descr="icon2_monitor_white.png"/>
          <p:cNvPicPr>
            <a:picLocks noChangeAspect="1"/>
          </p:cNvPicPr>
          <p:nvPr/>
        </p:nvPicPr>
        <p:blipFill>
          <a:blip r:embed="rId3"/>
          <a:stretch>
            <a:fillRect/>
          </a:stretch>
        </p:blipFill>
        <p:spPr>
          <a:xfrm>
            <a:off x="804672" y="4626864"/>
            <a:ext cx="256032" cy="256032"/>
          </a:xfrm>
          <a:prstGeom prst="rect">
            <a:avLst/>
          </a:prstGeom>
        </p:spPr>
      </p:pic>
      <p:sp>
        <p:nvSpPr>
          <p:cNvPr id="23" name="Text 20"/>
          <p:cNvSpPr/>
          <p:nvPr/>
        </p:nvSpPr>
        <p:spPr>
          <a:xfrm>
            <a:off x="667512" y="5074920"/>
            <a:ext cx="2148840" cy="365760"/>
          </a:xfrm>
          <a:prstGeom prst="rect">
            <a:avLst/>
          </a:prstGeom>
          <a:noFill/>
          <a:ln/>
        </p:spPr>
        <p:txBody>
          <a:bodyPr wrap="square" rtlCol="0" anchor="ctr"/>
          <a:lstStyle/>
          <a:p>
            <a:pPr marL="0" indent="0">
              <a:buNone/>
            </a:pPr>
            <a:r>
              <a:rPr lang="en-US" sz="1250" b="1" dirty="0">
                <a:solidFill>
                  <a:srgbClr val="16324F"/>
                </a:solidFill>
                <a:latin typeface="Cambria" pitchFamily="34" charset="0"/>
                <a:ea typeface="Cambria" pitchFamily="34" charset="-122"/>
                <a:cs typeface="Cambria" pitchFamily="34" charset="-120"/>
              </a:rPr>
              <a:t>Power BI Desktop</a:t>
            </a:r>
            <a:endParaRPr lang="en-US" sz="1250" dirty="0"/>
          </a:p>
        </p:txBody>
      </p:sp>
      <p:sp>
        <p:nvSpPr>
          <p:cNvPr id="24" name="Text 21"/>
          <p:cNvSpPr/>
          <p:nvPr/>
        </p:nvSpPr>
        <p:spPr>
          <a:xfrm>
            <a:off x="667512" y="5413248"/>
            <a:ext cx="2148840" cy="548640"/>
          </a:xfrm>
          <a:prstGeom prst="rect">
            <a:avLst/>
          </a:prstGeom>
          <a:noFill/>
          <a:ln/>
        </p:spPr>
        <p:txBody>
          <a:bodyPr wrap="square" rtlCol="0" anchor="ctr"/>
          <a:lstStyle/>
          <a:p>
            <a:pPr marL="0" indent="0">
              <a:lnSpc>
                <a:spcPts val="1300"/>
              </a:lnSpc>
              <a:buNone/>
            </a:pPr>
            <a:r>
              <a:rPr lang="en-US" sz="1000" dirty="0">
                <a:solidFill>
                  <a:srgbClr val="66788A"/>
                </a:solidFill>
                <a:latin typeface="Calibri" pitchFamily="34" charset="0"/>
                <a:ea typeface="Calibri" pitchFamily="34" charset="-122"/>
                <a:cs typeface="Calibri" pitchFamily="34" charset="-120"/>
              </a:rPr>
              <a:t>Data modeling and dashboard design</a:t>
            </a:r>
            <a:endParaRPr lang="en-US" sz="1000" dirty="0"/>
          </a:p>
        </p:txBody>
      </p:sp>
      <p:sp>
        <p:nvSpPr>
          <p:cNvPr id="25" name="Shape 22"/>
          <p:cNvSpPr/>
          <p:nvPr/>
        </p:nvSpPr>
        <p:spPr>
          <a:xfrm>
            <a:off x="3108960" y="4343400"/>
            <a:ext cx="2468880" cy="1691640"/>
          </a:xfrm>
          <a:prstGeom prst="roundRect">
            <a:avLst>
              <a:gd name="adj" fmla="val 5405"/>
            </a:avLst>
          </a:prstGeom>
          <a:solidFill>
            <a:srgbClr val="FFFFFF"/>
          </a:solidFill>
          <a:ln w="12700">
            <a:solidFill>
              <a:srgbClr val="E3E8EC"/>
            </a:solidFill>
            <a:prstDash val="solid"/>
          </a:ln>
        </p:spPr>
      </p:sp>
      <p:sp>
        <p:nvSpPr>
          <p:cNvPr id="26" name="Shape 23"/>
          <p:cNvSpPr/>
          <p:nvPr/>
        </p:nvSpPr>
        <p:spPr>
          <a:xfrm>
            <a:off x="3310128" y="4526280"/>
            <a:ext cx="457200" cy="457200"/>
          </a:xfrm>
          <a:prstGeom prst="roundRect">
            <a:avLst>
              <a:gd name="adj" fmla="val 18000"/>
            </a:avLst>
          </a:prstGeom>
          <a:solidFill>
            <a:srgbClr val="0F6E8C"/>
          </a:solidFill>
          <a:ln/>
        </p:spPr>
      </p:sp>
      <p:pic>
        <p:nvPicPr>
          <p:cNvPr id="27" name="Image 1" descr="icon2_compass_white.png"/>
          <p:cNvPicPr>
            <a:picLocks noChangeAspect="1"/>
          </p:cNvPicPr>
          <p:nvPr/>
        </p:nvPicPr>
        <p:blipFill>
          <a:blip r:embed="rId4"/>
          <a:stretch>
            <a:fillRect/>
          </a:stretch>
        </p:blipFill>
        <p:spPr>
          <a:xfrm>
            <a:off x="3410712" y="4626864"/>
            <a:ext cx="256032" cy="256032"/>
          </a:xfrm>
          <a:prstGeom prst="rect">
            <a:avLst/>
          </a:prstGeom>
        </p:spPr>
      </p:pic>
      <p:sp>
        <p:nvSpPr>
          <p:cNvPr id="28" name="Text 24"/>
          <p:cNvSpPr/>
          <p:nvPr/>
        </p:nvSpPr>
        <p:spPr>
          <a:xfrm>
            <a:off x="3273552" y="5074920"/>
            <a:ext cx="2148840" cy="365760"/>
          </a:xfrm>
          <a:prstGeom prst="rect">
            <a:avLst/>
          </a:prstGeom>
          <a:noFill/>
          <a:ln/>
        </p:spPr>
        <p:txBody>
          <a:bodyPr wrap="square" rtlCol="0" anchor="ctr"/>
          <a:lstStyle/>
          <a:p>
            <a:pPr marL="0" indent="0">
              <a:buNone/>
            </a:pPr>
            <a:r>
              <a:rPr lang="en-US" sz="1250" b="1" dirty="0">
                <a:solidFill>
                  <a:srgbClr val="16324F"/>
                </a:solidFill>
                <a:latin typeface="Cambria" pitchFamily="34" charset="0"/>
                <a:ea typeface="Cambria" pitchFamily="34" charset="-122"/>
                <a:cs typeface="Cambria" pitchFamily="34" charset="-120"/>
              </a:rPr>
              <a:t>DAX</a:t>
            </a:r>
            <a:endParaRPr lang="en-US" sz="1250" dirty="0"/>
          </a:p>
        </p:txBody>
      </p:sp>
      <p:sp>
        <p:nvSpPr>
          <p:cNvPr id="29" name="Text 25"/>
          <p:cNvSpPr/>
          <p:nvPr/>
        </p:nvSpPr>
        <p:spPr>
          <a:xfrm>
            <a:off x="3273552" y="5413248"/>
            <a:ext cx="2148840" cy="548640"/>
          </a:xfrm>
          <a:prstGeom prst="rect">
            <a:avLst/>
          </a:prstGeom>
          <a:noFill/>
          <a:ln/>
        </p:spPr>
        <p:txBody>
          <a:bodyPr wrap="square" rtlCol="0" anchor="ctr"/>
          <a:lstStyle/>
          <a:p>
            <a:pPr marL="0" indent="0">
              <a:lnSpc>
                <a:spcPts val="1300"/>
              </a:lnSpc>
              <a:buNone/>
            </a:pPr>
            <a:r>
              <a:rPr lang="en-US" sz="1000" dirty="0">
                <a:solidFill>
                  <a:srgbClr val="66788A"/>
                </a:solidFill>
                <a:latin typeface="Calibri" pitchFamily="34" charset="0"/>
                <a:ea typeface="Calibri" pitchFamily="34" charset="-122"/>
                <a:cs typeface="Calibri" pitchFamily="34" charset="-120"/>
              </a:rPr>
              <a:t>Measures and calculated columns</a:t>
            </a:r>
            <a:endParaRPr lang="en-US" sz="1000" dirty="0"/>
          </a:p>
        </p:txBody>
      </p:sp>
      <p:sp>
        <p:nvSpPr>
          <p:cNvPr id="30" name="Shape 26"/>
          <p:cNvSpPr/>
          <p:nvPr/>
        </p:nvSpPr>
        <p:spPr>
          <a:xfrm>
            <a:off x="5715000" y="4343400"/>
            <a:ext cx="2468880" cy="1691640"/>
          </a:xfrm>
          <a:prstGeom prst="roundRect">
            <a:avLst>
              <a:gd name="adj" fmla="val 5405"/>
            </a:avLst>
          </a:prstGeom>
          <a:solidFill>
            <a:srgbClr val="FFFFFF"/>
          </a:solidFill>
          <a:ln w="12700">
            <a:solidFill>
              <a:srgbClr val="E3E8EC"/>
            </a:solidFill>
            <a:prstDash val="solid"/>
          </a:ln>
        </p:spPr>
      </p:sp>
      <p:sp>
        <p:nvSpPr>
          <p:cNvPr id="31" name="Shape 27"/>
          <p:cNvSpPr/>
          <p:nvPr/>
        </p:nvSpPr>
        <p:spPr>
          <a:xfrm>
            <a:off x="5916168" y="4526280"/>
            <a:ext cx="457200" cy="457200"/>
          </a:xfrm>
          <a:prstGeom prst="roundRect">
            <a:avLst>
              <a:gd name="adj" fmla="val 18000"/>
            </a:avLst>
          </a:prstGeom>
          <a:solidFill>
            <a:srgbClr val="0F6E8C"/>
          </a:solidFill>
          <a:ln/>
        </p:spPr>
      </p:sp>
      <p:pic>
        <p:nvPicPr>
          <p:cNvPr id="32" name="Image 2" descr="icon2_table_white.png"/>
          <p:cNvPicPr>
            <a:picLocks noChangeAspect="1"/>
          </p:cNvPicPr>
          <p:nvPr/>
        </p:nvPicPr>
        <p:blipFill>
          <a:blip r:embed="rId5"/>
          <a:stretch>
            <a:fillRect/>
          </a:stretch>
        </p:blipFill>
        <p:spPr>
          <a:xfrm>
            <a:off x="6016752" y="4626864"/>
            <a:ext cx="256032" cy="256032"/>
          </a:xfrm>
          <a:prstGeom prst="rect">
            <a:avLst/>
          </a:prstGeom>
        </p:spPr>
      </p:pic>
      <p:sp>
        <p:nvSpPr>
          <p:cNvPr id="33" name="Text 28"/>
          <p:cNvSpPr/>
          <p:nvPr/>
        </p:nvSpPr>
        <p:spPr>
          <a:xfrm>
            <a:off x="5879592" y="5074920"/>
            <a:ext cx="2148840" cy="365760"/>
          </a:xfrm>
          <a:prstGeom prst="rect">
            <a:avLst/>
          </a:prstGeom>
          <a:noFill/>
          <a:ln/>
        </p:spPr>
        <p:txBody>
          <a:bodyPr wrap="square" rtlCol="0" anchor="ctr"/>
          <a:lstStyle/>
          <a:p>
            <a:pPr marL="0" indent="0">
              <a:buNone/>
            </a:pPr>
            <a:r>
              <a:rPr lang="en-US" sz="1250" b="1" dirty="0">
                <a:solidFill>
                  <a:srgbClr val="16324F"/>
                </a:solidFill>
                <a:latin typeface="Cambria" pitchFamily="34" charset="0"/>
                <a:ea typeface="Cambria" pitchFamily="34" charset="-122"/>
                <a:cs typeface="Cambria" pitchFamily="34" charset="-120"/>
              </a:rPr>
              <a:t>Power Query</a:t>
            </a:r>
            <a:endParaRPr lang="en-US" sz="1250" dirty="0"/>
          </a:p>
        </p:txBody>
      </p:sp>
      <p:sp>
        <p:nvSpPr>
          <p:cNvPr id="34" name="Text 29"/>
          <p:cNvSpPr/>
          <p:nvPr/>
        </p:nvSpPr>
        <p:spPr>
          <a:xfrm>
            <a:off x="5879592" y="5413248"/>
            <a:ext cx="2148840" cy="548640"/>
          </a:xfrm>
          <a:prstGeom prst="rect">
            <a:avLst/>
          </a:prstGeom>
          <a:noFill/>
          <a:ln/>
        </p:spPr>
        <p:txBody>
          <a:bodyPr wrap="square" rtlCol="0" anchor="ctr"/>
          <a:lstStyle/>
          <a:p>
            <a:pPr marL="0" indent="0">
              <a:lnSpc>
                <a:spcPts val="1300"/>
              </a:lnSpc>
              <a:buNone/>
            </a:pPr>
            <a:r>
              <a:rPr lang="en-US" sz="1000" dirty="0">
                <a:solidFill>
                  <a:srgbClr val="66788A"/>
                </a:solidFill>
                <a:latin typeface="Calibri" pitchFamily="34" charset="0"/>
                <a:ea typeface="Calibri" pitchFamily="34" charset="-122"/>
                <a:cs typeface="Calibri" pitchFamily="34" charset="-120"/>
              </a:rPr>
              <a:t>Data cleaning and transformation</a:t>
            </a:r>
            <a:endParaRPr lang="en-US" sz="1000" dirty="0"/>
          </a:p>
        </p:txBody>
      </p:sp>
      <p:sp>
        <p:nvSpPr>
          <p:cNvPr id="35" name="Shape 30"/>
          <p:cNvSpPr/>
          <p:nvPr/>
        </p:nvSpPr>
        <p:spPr>
          <a:xfrm>
            <a:off x="8321040" y="4343400"/>
            <a:ext cx="2468880" cy="1691640"/>
          </a:xfrm>
          <a:prstGeom prst="roundRect">
            <a:avLst>
              <a:gd name="adj" fmla="val 5405"/>
            </a:avLst>
          </a:prstGeom>
          <a:solidFill>
            <a:srgbClr val="FFFFFF"/>
          </a:solidFill>
          <a:ln w="12700">
            <a:solidFill>
              <a:srgbClr val="E3E8EC"/>
            </a:solidFill>
            <a:prstDash val="solid"/>
          </a:ln>
        </p:spPr>
      </p:sp>
      <p:sp>
        <p:nvSpPr>
          <p:cNvPr id="36" name="Shape 31"/>
          <p:cNvSpPr/>
          <p:nvPr/>
        </p:nvSpPr>
        <p:spPr>
          <a:xfrm>
            <a:off x="8522208" y="4526280"/>
            <a:ext cx="457200" cy="457200"/>
          </a:xfrm>
          <a:prstGeom prst="roundRect">
            <a:avLst>
              <a:gd name="adj" fmla="val 18000"/>
            </a:avLst>
          </a:prstGeom>
          <a:solidFill>
            <a:srgbClr val="0F6E8C"/>
          </a:solidFill>
          <a:ln/>
        </p:spPr>
      </p:sp>
      <p:pic>
        <p:nvPicPr>
          <p:cNvPr id="37" name="Image 3" descr="icon2_grid_white.png"/>
          <p:cNvPicPr>
            <a:picLocks noChangeAspect="1"/>
          </p:cNvPicPr>
          <p:nvPr/>
        </p:nvPicPr>
        <p:blipFill>
          <a:blip r:embed="rId6"/>
          <a:stretch>
            <a:fillRect/>
          </a:stretch>
        </p:blipFill>
        <p:spPr>
          <a:xfrm>
            <a:off x="8622792" y="4626864"/>
            <a:ext cx="256032" cy="256032"/>
          </a:xfrm>
          <a:prstGeom prst="rect">
            <a:avLst/>
          </a:prstGeom>
        </p:spPr>
      </p:pic>
      <p:sp>
        <p:nvSpPr>
          <p:cNvPr id="38" name="Text 32"/>
          <p:cNvSpPr/>
          <p:nvPr/>
        </p:nvSpPr>
        <p:spPr>
          <a:xfrm>
            <a:off x="8485632" y="5074920"/>
            <a:ext cx="2148840" cy="365760"/>
          </a:xfrm>
          <a:prstGeom prst="rect">
            <a:avLst/>
          </a:prstGeom>
          <a:noFill/>
          <a:ln/>
        </p:spPr>
        <p:txBody>
          <a:bodyPr wrap="square" rtlCol="0" anchor="ctr"/>
          <a:lstStyle/>
          <a:p>
            <a:pPr marL="0" indent="0">
              <a:buNone/>
            </a:pPr>
            <a:r>
              <a:rPr lang="en-US" sz="1250" b="1" dirty="0">
                <a:solidFill>
                  <a:srgbClr val="16324F"/>
                </a:solidFill>
                <a:latin typeface="Cambria" pitchFamily="34" charset="0"/>
                <a:ea typeface="Cambria" pitchFamily="34" charset="-122"/>
                <a:cs typeface="Cambria" pitchFamily="34" charset="-120"/>
              </a:rPr>
              <a:t>Star Schema</a:t>
            </a:r>
            <a:endParaRPr lang="en-US" sz="1250" dirty="0"/>
          </a:p>
        </p:txBody>
      </p:sp>
      <p:sp>
        <p:nvSpPr>
          <p:cNvPr id="39" name="Text 33"/>
          <p:cNvSpPr/>
          <p:nvPr/>
        </p:nvSpPr>
        <p:spPr>
          <a:xfrm>
            <a:off x="8485632" y="5413248"/>
            <a:ext cx="2148840" cy="548640"/>
          </a:xfrm>
          <a:prstGeom prst="rect">
            <a:avLst/>
          </a:prstGeom>
          <a:noFill/>
          <a:ln/>
        </p:spPr>
        <p:txBody>
          <a:bodyPr wrap="square" rtlCol="0" anchor="ctr"/>
          <a:lstStyle/>
          <a:p>
            <a:pPr marL="0" indent="0">
              <a:lnSpc>
                <a:spcPts val="1300"/>
              </a:lnSpc>
              <a:buNone/>
            </a:pPr>
            <a:r>
              <a:rPr lang="en-US" sz="1000" dirty="0">
                <a:solidFill>
                  <a:srgbClr val="66788A"/>
                </a:solidFill>
                <a:latin typeface="Calibri" pitchFamily="34" charset="0"/>
                <a:ea typeface="Calibri" pitchFamily="34" charset="-122"/>
                <a:cs typeface="Calibri" pitchFamily="34" charset="-120"/>
              </a:rPr>
              <a:t>Fact and dimension table design</a:t>
            </a:r>
            <a:endParaRPr lang="en-US" sz="1000" dirty="0"/>
          </a:p>
        </p:txBody>
      </p:sp>
      <p:sp>
        <p:nvSpPr>
          <p:cNvPr id="40" name="Shape 34"/>
          <p:cNvSpPr/>
          <p:nvPr/>
        </p:nvSpPr>
        <p:spPr>
          <a:xfrm>
            <a:off x="0" y="6784848"/>
            <a:ext cx="12188952" cy="73152"/>
          </a:xfrm>
          <a:prstGeom prst="rect">
            <a:avLst/>
          </a:prstGeom>
          <a:solidFill>
            <a:srgbClr val="0F6E8C"/>
          </a:solidFill>
          <a:ln/>
        </p:spPr>
      </p:sp>
      <p:sp>
        <p:nvSpPr>
          <p:cNvPr id="41" name="Text 35"/>
          <p:cNvSpPr/>
          <p:nvPr/>
        </p:nvSpPr>
        <p:spPr>
          <a:xfrm>
            <a:off x="457200" y="6510528"/>
            <a:ext cx="7315200" cy="256032"/>
          </a:xfrm>
          <a:prstGeom prst="rect">
            <a:avLst/>
          </a:prstGeom>
          <a:noFill/>
          <a:ln/>
        </p:spPr>
        <p:txBody>
          <a:bodyPr wrap="square" rtlCol="0" anchor="ctr"/>
          <a:lstStyle/>
          <a:p>
            <a:pPr marL="0" indent="0" algn="l">
              <a:buNone/>
            </a:pPr>
            <a:r>
              <a:rPr lang="en-US" sz="900" dirty="0">
                <a:solidFill>
                  <a:srgbClr val="66788A"/>
                </a:solidFill>
                <a:latin typeface="Calibri" pitchFamily="34" charset="0"/>
                <a:ea typeface="Calibri" pitchFamily="34" charset="-122"/>
                <a:cs typeface="Calibri" pitchFamily="34" charset="-120"/>
              </a:rPr>
              <a:t>Sales Performance Analysis — Power BI Project</a:t>
            </a:r>
            <a:endParaRPr lang="en-US" sz="900" dirty="0"/>
          </a:p>
        </p:txBody>
      </p:sp>
      <p:sp>
        <p:nvSpPr>
          <p:cNvPr id="42" name="Text 36"/>
          <p:cNvSpPr/>
          <p:nvPr/>
        </p:nvSpPr>
        <p:spPr>
          <a:xfrm>
            <a:off x="11521440" y="6510528"/>
            <a:ext cx="365760" cy="256032"/>
          </a:xfrm>
          <a:prstGeom prst="rect">
            <a:avLst/>
          </a:prstGeom>
          <a:noFill/>
          <a:ln/>
        </p:spPr>
        <p:txBody>
          <a:bodyPr wrap="square" rtlCol="0" anchor="ctr"/>
          <a:lstStyle/>
          <a:p>
            <a:pPr marL="0" indent="0" algn="r">
              <a:buNone/>
            </a:pPr>
            <a:r>
              <a:rPr lang="en-US" sz="900" dirty="0">
                <a:solidFill>
                  <a:srgbClr val="66788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F6E8C"/>
          </a:solidFill>
          <a:ln/>
        </p:spPr>
      </p:sp>
      <p:sp>
        <p:nvSpPr>
          <p:cNvPr id="3" name="Text 1"/>
          <p:cNvSpPr/>
          <p:nvPr/>
        </p:nvSpPr>
        <p:spPr>
          <a:xfrm>
            <a:off x="502920" y="411480"/>
            <a:ext cx="7315200" cy="274320"/>
          </a:xfrm>
          <a:prstGeom prst="rect">
            <a:avLst/>
          </a:prstGeom>
          <a:noFill/>
          <a:ln/>
        </p:spPr>
        <p:txBody>
          <a:bodyPr wrap="square" rtlCol="0" anchor="ctr"/>
          <a:lstStyle/>
          <a:p>
            <a:pPr marL="0" indent="0">
              <a:buNone/>
            </a:pPr>
            <a:r>
              <a:rPr lang="en-US" sz="1200" b="1" kern="0" spc="200" dirty="0">
                <a:solidFill>
                  <a:srgbClr val="0F6E8C"/>
                </a:solidFill>
                <a:latin typeface="Calibri" pitchFamily="34" charset="0"/>
                <a:ea typeface="Calibri" pitchFamily="34" charset="-122"/>
                <a:cs typeface="Calibri" pitchFamily="34" charset="-120"/>
              </a:rPr>
              <a:t>INSIGHT 01</a:t>
            </a:r>
            <a:endParaRPr lang="en-US" sz="1200" dirty="0"/>
          </a:p>
        </p:txBody>
      </p:sp>
      <p:sp>
        <p:nvSpPr>
          <p:cNvPr id="4" name="Text 2"/>
          <p:cNvSpPr/>
          <p:nvPr/>
        </p:nvSpPr>
        <p:spPr>
          <a:xfrm>
            <a:off x="502920" y="685800"/>
            <a:ext cx="9601200" cy="685800"/>
          </a:xfrm>
          <a:prstGeom prst="rect">
            <a:avLst/>
          </a:prstGeom>
          <a:noFill/>
          <a:ln/>
        </p:spPr>
        <p:txBody>
          <a:bodyPr wrap="square" rtlCol="0" anchor="ctr"/>
          <a:lstStyle/>
          <a:p>
            <a:pPr marL="0" indent="0">
              <a:buNone/>
            </a:pPr>
            <a:r>
              <a:rPr lang="en-US" sz="2800" b="1" dirty="0">
                <a:solidFill>
                  <a:srgbClr val="16324F"/>
                </a:solidFill>
                <a:latin typeface="Cambria" pitchFamily="34" charset="0"/>
                <a:ea typeface="Cambria" pitchFamily="34" charset="-122"/>
                <a:cs typeface="Cambria" pitchFamily="34" charset="-120"/>
              </a:rPr>
              <a:t>Sales and Profit by Category</a:t>
            </a:r>
            <a:endParaRPr lang="en-US" sz="2800" dirty="0"/>
          </a:p>
        </p:txBody>
      </p:sp>
      <p:sp>
        <p:nvSpPr>
          <p:cNvPr id="5" name="Shape 3"/>
          <p:cNvSpPr/>
          <p:nvPr/>
        </p:nvSpPr>
        <p:spPr>
          <a:xfrm>
            <a:off x="502920" y="1371600"/>
            <a:ext cx="1371600" cy="0"/>
          </a:xfrm>
          <a:prstGeom prst="line">
            <a:avLst/>
          </a:prstGeom>
          <a:noFill/>
          <a:ln w="31750">
            <a:solidFill>
              <a:srgbClr val="E08E45"/>
            </a:solidFill>
            <a:prstDash val="solid"/>
          </a:ln>
        </p:spPr>
      </p:sp>
      <p:graphicFrame>
        <p:nvGraphicFramePr>
          <p:cNvPr id="6" name="Chart 0"/>
          <p:cNvGraphicFramePr/>
          <p:nvPr/>
        </p:nvGraphicFramePr>
        <p:xfrm>
          <a:off x="502920" y="1600200"/>
          <a:ext cx="5394960" cy="39776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nvGraphicFramePr>
        <p:xfrm>
          <a:off x="6263640" y="1600200"/>
          <a:ext cx="5394960" cy="397764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4"/>
          <p:cNvSpPr/>
          <p:nvPr/>
        </p:nvSpPr>
        <p:spPr>
          <a:xfrm>
            <a:off x="502920" y="5760720"/>
            <a:ext cx="11155680" cy="685800"/>
          </a:xfrm>
          <a:prstGeom prst="roundRect">
            <a:avLst>
              <a:gd name="adj" fmla="val 8000"/>
            </a:avLst>
          </a:prstGeom>
          <a:solidFill>
            <a:srgbClr val="EAF4F8"/>
          </a:solidFill>
          <a:ln/>
        </p:spPr>
      </p:sp>
      <p:sp>
        <p:nvSpPr>
          <p:cNvPr id="9" name="Text 5"/>
          <p:cNvSpPr/>
          <p:nvPr/>
        </p:nvSpPr>
        <p:spPr>
          <a:xfrm>
            <a:off x="731520" y="5824728"/>
            <a:ext cx="10698480" cy="566928"/>
          </a:xfrm>
          <a:prstGeom prst="rect">
            <a:avLst/>
          </a:prstGeom>
          <a:noFill/>
          <a:ln/>
        </p:spPr>
        <p:txBody>
          <a:bodyPr wrap="square" rtlCol="0" anchor="ctr"/>
          <a:lstStyle/>
          <a:p>
            <a:pPr marL="0" indent="0">
              <a:buNone/>
            </a:pPr>
            <a:r>
              <a:rPr lang="en-US" sz="1100" b="1" dirty="0">
                <a:solidFill>
                  <a:srgbClr val="0F6E8C"/>
                </a:solidFill>
                <a:latin typeface="Calibri" pitchFamily="34" charset="0"/>
                <a:ea typeface="Calibri" pitchFamily="34" charset="-122"/>
                <a:cs typeface="Calibri" pitchFamily="34" charset="-120"/>
              </a:rPr>
              <a:t>Explanation:  </a:t>
            </a:r>
            <a:r>
              <a:rPr lang="en-US" sz="1100" dirty="0">
                <a:solidFill>
                  <a:srgbClr val="233240"/>
                </a:solidFill>
                <a:latin typeface="Calibri" pitchFamily="34" charset="0"/>
                <a:ea typeface="Calibri" pitchFamily="34" charset="-122"/>
                <a:cs typeface="Calibri" pitchFamily="34" charset="-120"/>
              </a:rPr>
              <a:t>Clothing sells the most, but Electronics and Accessories are more profitable (about 39% and 38.6% margin). Revenue and profitability do not always match, so marketing focus should also consider margin, not just sales volume.</a:t>
            </a:r>
            <a:endParaRPr lang="en-US" sz="1100" dirty="0"/>
          </a:p>
        </p:txBody>
      </p:sp>
      <p:sp>
        <p:nvSpPr>
          <p:cNvPr id="10" name="Shape 6"/>
          <p:cNvSpPr/>
          <p:nvPr/>
        </p:nvSpPr>
        <p:spPr>
          <a:xfrm>
            <a:off x="0" y="6784848"/>
            <a:ext cx="12188952" cy="73152"/>
          </a:xfrm>
          <a:prstGeom prst="rect">
            <a:avLst/>
          </a:prstGeom>
          <a:solidFill>
            <a:srgbClr val="0F6E8C"/>
          </a:solidFill>
          <a:ln/>
        </p:spPr>
      </p:sp>
      <p:sp>
        <p:nvSpPr>
          <p:cNvPr id="11" name="Text 7"/>
          <p:cNvSpPr/>
          <p:nvPr/>
        </p:nvSpPr>
        <p:spPr>
          <a:xfrm>
            <a:off x="457200" y="6510528"/>
            <a:ext cx="7315200" cy="256032"/>
          </a:xfrm>
          <a:prstGeom prst="rect">
            <a:avLst/>
          </a:prstGeom>
          <a:noFill/>
          <a:ln/>
        </p:spPr>
        <p:txBody>
          <a:bodyPr wrap="square" rtlCol="0" anchor="ctr"/>
          <a:lstStyle/>
          <a:p>
            <a:pPr marL="0" indent="0" algn="l">
              <a:buNone/>
            </a:pPr>
            <a:r>
              <a:rPr lang="en-US" sz="900" dirty="0">
                <a:solidFill>
                  <a:srgbClr val="66788A"/>
                </a:solidFill>
                <a:latin typeface="Calibri" pitchFamily="34" charset="0"/>
                <a:ea typeface="Calibri" pitchFamily="34" charset="-122"/>
                <a:cs typeface="Calibri" pitchFamily="34" charset="-120"/>
              </a:rPr>
              <a:t>Sales Performance Analysis — Power BI Project</a:t>
            </a:r>
            <a:endParaRPr lang="en-US" sz="900" dirty="0"/>
          </a:p>
        </p:txBody>
      </p:sp>
      <p:sp>
        <p:nvSpPr>
          <p:cNvPr id="12" name="Text 8"/>
          <p:cNvSpPr/>
          <p:nvPr/>
        </p:nvSpPr>
        <p:spPr>
          <a:xfrm>
            <a:off x="11521440" y="6510528"/>
            <a:ext cx="365760" cy="256032"/>
          </a:xfrm>
          <a:prstGeom prst="rect">
            <a:avLst/>
          </a:prstGeom>
          <a:noFill/>
          <a:ln/>
        </p:spPr>
        <p:txBody>
          <a:bodyPr wrap="square" rtlCol="0" anchor="ctr"/>
          <a:lstStyle/>
          <a:p>
            <a:pPr marL="0" indent="0" algn="r">
              <a:buNone/>
            </a:pPr>
            <a:r>
              <a:rPr lang="en-US" sz="900" dirty="0">
                <a:solidFill>
                  <a:srgbClr val="66788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F6E8C"/>
          </a:solidFill>
          <a:ln/>
        </p:spPr>
      </p:sp>
      <p:sp>
        <p:nvSpPr>
          <p:cNvPr id="3" name="Text 1"/>
          <p:cNvSpPr/>
          <p:nvPr/>
        </p:nvSpPr>
        <p:spPr>
          <a:xfrm>
            <a:off x="502920" y="411480"/>
            <a:ext cx="7315200" cy="274320"/>
          </a:xfrm>
          <a:prstGeom prst="rect">
            <a:avLst/>
          </a:prstGeom>
          <a:noFill/>
          <a:ln/>
        </p:spPr>
        <p:txBody>
          <a:bodyPr wrap="square" rtlCol="0" anchor="ctr"/>
          <a:lstStyle/>
          <a:p>
            <a:pPr marL="0" indent="0">
              <a:buNone/>
            </a:pPr>
            <a:r>
              <a:rPr lang="en-US" sz="1200" b="1" kern="0" spc="200" dirty="0">
                <a:solidFill>
                  <a:srgbClr val="0F6E8C"/>
                </a:solidFill>
                <a:latin typeface="Calibri" pitchFamily="34" charset="0"/>
                <a:ea typeface="Calibri" pitchFamily="34" charset="-122"/>
                <a:cs typeface="Calibri" pitchFamily="34" charset="-120"/>
              </a:rPr>
              <a:t>INSIGHT 02</a:t>
            </a:r>
            <a:endParaRPr lang="en-US" sz="1200" dirty="0"/>
          </a:p>
        </p:txBody>
      </p:sp>
      <p:sp>
        <p:nvSpPr>
          <p:cNvPr id="4" name="Text 2"/>
          <p:cNvSpPr/>
          <p:nvPr/>
        </p:nvSpPr>
        <p:spPr>
          <a:xfrm>
            <a:off x="502920" y="685800"/>
            <a:ext cx="9601200" cy="685800"/>
          </a:xfrm>
          <a:prstGeom prst="rect">
            <a:avLst/>
          </a:prstGeom>
          <a:noFill/>
          <a:ln/>
        </p:spPr>
        <p:txBody>
          <a:bodyPr wrap="square" rtlCol="0" anchor="ctr"/>
          <a:lstStyle/>
          <a:p>
            <a:pPr marL="0" indent="0">
              <a:buNone/>
            </a:pPr>
            <a:r>
              <a:rPr lang="en-US" sz="2800" b="1" dirty="0">
                <a:solidFill>
                  <a:srgbClr val="16324F"/>
                </a:solidFill>
                <a:latin typeface="Cambria" pitchFamily="34" charset="0"/>
                <a:ea typeface="Cambria" pitchFamily="34" charset="-122"/>
                <a:cs typeface="Cambria" pitchFamily="34" charset="-120"/>
              </a:rPr>
              <a:t>Discount Impact and Channel Performance</a:t>
            </a:r>
            <a:endParaRPr lang="en-US" sz="2800" dirty="0"/>
          </a:p>
        </p:txBody>
      </p:sp>
      <p:sp>
        <p:nvSpPr>
          <p:cNvPr id="5" name="Shape 3"/>
          <p:cNvSpPr/>
          <p:nvPr/>
        </p:nvSpPr>
        <p:spPr>
          <a:xfrm>
            <a:off x="502920" y="1371600"/>
            <a:ext cx="1371600" cy="0"/>
          </a:xfrm>
          <a:prstGeom prst="line">
            <a:avLst/>
          </a:prstGeom>
          <a:noFill/>
          <a:ln w="31750">
            <a:solidFill>
              <a:srgbClr val="E08E45"/>
            </a:solidFill>
            <a:prstDash val="solid"/>
          </a:ln>
        </p:spPr>
      </p:sp>
      <p:graphicFrame>
        <p:nvGraphicFramePr>
          <p:cNvPr id="6" name="Chart 0"/>
          <p:cNvGraphicFramePr/>
          <p:nvPr/>
        </p:nvGraphicFramePr>
        <p:xfrm>
          <a:off x="502920" y="1600200"/>
          <a:ext cx="5394960" cy="39776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nvGraphicFramePr>
        <p:xfrm>
          <a:off x="6263640" y="1600200"/>
          <a:ext cx="5394960" cy="397764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4"/>
          <p:cNvSpPr/>
          <p:nvPr/>
        </p:nvSpPr>
        <p:spPr>
          <a:xfrm>
            <a:off x="502920" y="5760720"/>
            <a:ext cx="11155680" cy="685800"/>
          </a:xfrm>
          <a:prstGeom prst="roundRect">
            <a:avLst>
              <a:gd name="adj" fmla="val 8000"/>
            </a:avLst>
          </a:prstGeom>
          <a:solidFill>
            <a:srgbClr val="EAF4F8"/>
          </a:solidFill>
          <a:ln/>
        </p:spPr>
      </p:sp>
      <p:sp>
        <p:nvSpPr>
          <p:cNvPr id="9" name="Text 5"/>
          <p:cNvSpPr/>
          <p:nvPr/>
        </p:nvSpPr>
        <p:spPr>
          <a:xfrm>
            <a:off x="731520" y="5824728"/>
            <a:ext cx="10698480" cy="566928"/>
          </a:xfrm>
          <a:prstGeom prst="rect">
            <a:avLst/>
          </a:prstGeom>
          <a:noFill/>
          <a:ln/>
        </p:spPr>
        <p:txBody>
          <a:bodyPr wrap="square" rtlCol="0" anchor="ctr"/>
          <a:lstStyle/>
          <a:p>
            <a:pPr marL="0" indent="0">
              <a:buNone/>
            </a:pPr>
            <a:r>
              <a:rPr lang="en-US" sz="1100" b="1" dirty="0">
                <a:solidFill>
                  <a:srgbClr val="0F6E8C"/>
                </a:solidFill>
                <a:latin typeface="Calibri" pitchFamily="34" charset="0"/>
                <a:ea typeface="Calibri" pitchFamily="34" charset="-122"/>
                <a:cs typeface="Calibri" pitchFamily="34" charset="-120"/>
              </a:rPr>
              <a:t>Explanation:  </a:t>
            </a:r>
            <a:r>
              <a:rPr lang="en-US" sz="1100" dirty="0">
                <a:solidFill>
                  <a:srgbClr val="233240"/>
                </a:solidFill>
                <a:latin typeface="Calibri" pitchFamily="34" charset="0"/>
                <a:ea typeface="Calibri" pitchFamily="34" charset="-122"/>
                <a:cs typeface="Calibri" pitchFamily="34" charset="-120"/>
              </a:rPr>
              <a:t>Applying a discount lowers profit margin by about 6.6 percentage points. Meanwhile, all four sales channels perform almost equally, so channel is not a major factor — discounting is the bigger lever to manage.</a:t>
            </a:r>
            <a:endParaRPr lang="en-US" sz="1100" dirty="0"/>
          </a:p>
        </p:txBody>
      </p:sp>
      <p:sp>
        <p:nvSpPr>
          <p:cNvPr id="10" name="Shape 6"/>
          <p:cNvSpPr/>
          <p:nvPr/>
        </p:nvSpPr>
        <p:spPr>
          <a:xfrm>
            <a:off x="0" y="6784848"/>
            <a:ext cx="12188952" cy="73152"/>
          </a:xfrm>
          <a:prstGeom prst="rect">
            <a:avLst/>
          </a:prstGeom>
          <a:solidFill>
            <a:srgbClr val="0F6E8C"/>
          </a:solidFill>
          <a:ln/>
        </p:spPr>
      </p:sp>
      <p:sp>
        <p:nvSpPr>
          <p:cNvPr id="11" name="Text 7"/>
          <p:cNvSpPr/>
          <p:nvPr/>
        </p:nvSpPr>
        <p:spPr>
          <a:xfrm>
            <a:off x="457200" y="6510528"/>
            <a:ext cx="7315200" cy="256032"/>
          </a:xfrm>
          <a:prstGeom prst="rect">
            <a:avLst/>
          </a:prstGeom>
          <a:noFill/>
          <a:ln/>
        </p:spPr>
        <p:txBody>
          <a:bodyPr wrap="square" rtlCol="0" anchor="ctr"/>
          <a:lstStyle/>
          <a:p>
            <a:pPr marL="0" indent="0" algn="l">
              <a:buNone/>
            </a:pPr>
            <a:r>
              <a:rPr lang="en-US" sz="900" dirty="0">
                <a:solidFill>
                  <a:srgbClr val="66788A"/>
                </a:solidFill>
                <a:latin typeface="Calibri" pitchFamily="34" charset="0"/>
                <a:ea typeface="Calibri" pitchFamily="34" charset="-122"/>
                <a:cs typeface="Calibri" pitchFamily="34" charset="-120"/>
              </a:rPr>
              <a:t>Sales Performance Analysis — Power BI Project</a:t>
            </a:r>
            <a:endParaRPr lang="en-US" sz="900" dirty="0"/>
          </a:p>
        </p:txBody>
      </p:sp>
      <p:sp>
        <p:nvSpPr>
          <p:cNvPr id="12" name="Text 8"/>
          <p:cNvSpPr/>
          <p:nvPr/>
        </p:nvSpPr>
        <p:spPr>
          <a:xfrm>
            <a:off x="11521440" y="6510528"/>
            <a:ext cx="365760" cy="256032"/>
          </a:xfrm>
          <a:prstGeom prst="rect">
            <a:avLst/>
          </a:prstGeom>
          <a:noFill/>
          <a:ln/>
        </p:spPr>
        <p:txBody>
          <a:bodyPr wrap="square" rtlCol="0" anchor="ctr"/>
          <a:lstStyle/>
          <a:p>
            <a:pPr marL="0" indent="0" algn="r">
              <a:buNone/>
            </a:pPr>
            <a:r>
              <a:rPr lang="en-US" sz="900" dirty="0">
                <a:solidFill>
                  <a:srgbClr val="66788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F6E8C"/>
          </a:solidFill>
          <a:ln/>
        </p:spPr>
      </p:sp>
      <p:sp>
        <p:nvSpPr>
          <p:cNvPr id="3" name="Text 1"/>
          <p:cNvSpPr/>
          <p:nvPr/>
        </p:nvSpPr>
        <p:spPr>
          <a:xfrm>
            <a:off x="502920" y="411480"/>
            <a:ext cx="7315200" cy="274320"/>
          </a:xfrm>
          <a:prstGeom prst="rect">
            <a:avLst/>
          </a:prstGeom>
          <a:noFill/>
          <a:ln/>
        </p:spPr>
        <p:txBody>
          <a:bodyPr wrap="square" rtlCol="0" anchor="ctr"/>
          <a:lstStyle/>
          <a:p>
            <a:pPr marL="0" indent="0">
              <a:buNone/>
            </a:pPr>
            <a:r>
              <a:rPr lang="en-US" sz="1200" b="1" kern="0" spc="200" dirty="0">
                <a:solidFill>
                  <a:srgbClr val="0F6E8C"/>
                </a:solidFill>
                <a:latin typeface="Calibri" pitchFamily="34" charset="0"/>
                <a:ea typeface="Calibri" pitchFamily="34" charset="-122"/>
                <a:cs typeface="Calibri" pitchFamily="34" charset="-120"/>
              </a:rPr>
              <a:t>INSIGHT 03</a:t>
            </a:r>
            <a:endParaRPr lang="en-US" sz="1200" dirty="0"/>
          </a:p>
        </p:txBody>
      </p:sp>
      <p:sp>
        <p:nvSpPr>
          <p:cNvPr id="4" name="Text 2"/>
          <p:cNvSpPr/>
          <p:nvPr/>
        </p:nvSpPr>
        <p:spPr>
          <a:xfrm>
            <a:off x="502920" y="685800"/>
            <a:ext cx="9601200" cy="685800"/>
          </a:xfrm>
          <a:prstGeom prst="rect">
            <a:avLst/>
          </a:prstGeom>
          <a:noFill/>
          <a:ln/>
        </p:spPr>
        <p:txBody>
          <a:bodyPr wrap="square" rtlCol="0" anchor="ctr"/>
          <a:lstStyle/>
          <a:p>
            <a:pPr marL="0" indent="0">
              <a:buNone/>
            </a:pPr>
            <a:r>
              <a:rPr lang="en-US" sz="2800" b="1" dirty="0">
                <a:solidFill>
                  <a:srgbClr val="16324F"/>
                </a:solidFill>
                <a:latin typeface="Cambria" pitchFamily="34" charset="0"/>
                <a:ea typeface="Cambria" pitchFamily="34" charset="-122"/>
                <a:cs typeface="Cambria" pitchFamily="34" charset="-120"/>
              </a:rPr>
              <a:t>Customer Segmentation and Sales Trend</a:t>
            </a:r>
            <a:endParaRPr lang="en-US" sz="2800" dirty="0"/>
          </a:p>
        </p:txBody>
      </p:sp>
      <p:sp>
        <p:nvSpPr>
          <p:cNvPr id="5" name="Shape 3"/>
          <p:cNvSpPr/>
          <p:nvPr/>
        </p:nvSpPr>
        <p:spPr>
          <a:xfrm>
            <a:off x="502920" y="1371600"/>
            <a:ext cx="1371600" cy="0"/>
          </a:xfrm>
          <a:prstGeom prst="line">
            <a:avLst/>
          </a:prstGeom>
          <a:noFill/>
          <a:ln w="31750">
            <a:solidFill>
              <a:srgbClr val="E08E45"/>
            </a:solidFill>
            <a:prstDash val="solid"/>
          </a:ln>
        </p:spPr>
      </p:sp>
      <p:graphicFrame>
        <p:nvGraphicFramePr>
          <p:cNvPr id="6" name="Chart 0"/>
          <p:cNvGraphicFramePr/>
          <p:nvPr/>
        </p:nvGraphicFramePr>
        <p:xfrm>
          <a:off x="365760" y="1600200"/>
          <a:ext cx="5394960" cy="40233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nvGraphicFramePr>
        <p:xfrm>
          <a:off x="6035040" y="1600200"/>
          <a:ext cx="5623560" cy="402336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4"/>
          <p:cNvSpPr/>
          <p:nvPr/>
        </p:nvSpPr>
        <p:spPr>
          <a:xfrm>
            <a:off x="502920" y="5760720"/>
            <a:ext cx="11155680" cy="685800"/>
          </a:xfrm>
          <a:prstGeom prst="roundRect">
            <a:avLst>
              <a:gd name="adj" fmla="val 8000"/>
            </a:avLst>
          </a:prstGeom>
          <a:solidFill>
            <a:srgbClr val="EAF4F8"/>
          </a:solidFill>
          <a:ln/>
        </p:spPr>
      </p:sp>
      <p:sp>
        <p:nvSpPr>
          <p:cNvPr id="9" name="Text 5"/>
          <p:cNvSpPr/>
          <p:nvPr/>
        </p:nvSpPr>
        <p:spPr>
          <a:xfrm>
            <a:off x="731520" y="5824728"/>
            <a:ext cx="10698480" cy="566928"/>
          </a:xfrm>
          <a:prstGeom prst="rect">
            <a:avLst/>
          </a:prstGeom>
          <a:noFill/>
          <a:ln/>
        </p:spPr>
        <p:txBody>
          <a:bodyPr wrap="square" rtlCol="0" anchor="ctr"/>
          <a:lstStyle/>
          <a:p>
            <a:pPr marL="0" indent="0">
              <a:buNone/>
            </a:pPr>
            <a:r>
              <a:rPr lang="en-US" sz="1100" b="1" dirty="0">
                <a:solidFill>
                  <a:srgbClr val="0F6E8C"/>
                </a:solidFill>
                <a:latin typeface="Calibri" pitchFamily="34" charset="0"/>
                <a:ea typeface="Calibri" pitchFamily="34" charset="-122"/>
                <a:cs typeface="Calibri" pitchFamily="34" charset="-120"/>
              </a:rPr>
              <a:t>Explanation:  </a:t>
            </a:r>
            <a:r>
              <a:rPr lang="en-US" sz="1100" dirty="0">
                <a:solidFill>
                  <a:srgbClr val="233240"/>
                </a:solidFill>
                <a:latin typeface="Calibri" pitchFamily="34" charset="0"/>
                <a:ea typeface="Calibri" pitchFamily="34" charset="-122"/>
                <a:cs typeface="Calibri" pitchFamily="34" charset="-120"/>
              </a:rPr>
              <a:t>Over 60% of orders come from Bronze-tier customers, showing that revenue is broad-based rather than driven by a few large spenders. Sales have stayed close to $10M every year since 2018, showing little year-over-year growth.</a:t>
            </a:r>
            <a:endParaRPr lang="en-US" sz="1100" dirty="0"/>
          </a:p>
        </p:txBody>
      </p:sp>
      <p:sp>
        <p:nvSpPr>
          <p:cNvPr id="10" name="Shape 6"/>
          <p:cNvSpPr/>
          <p:nvPr/>
        </p:nvSpPr>
        <p:spPr>
          <a:xfrm>
            <a:off x="0" y="6784848"/>
            <a:ext cx="12188952" cy="73152"/>
          </a:xfrm>
          <a:prstGeom prst="rect">
            <a:avLst/>
          </a:prstGeom>
          <a:solidFill>
            <a:srgbClr val="0F6E8C"/>
          </a:solidFill>
          <a:ln/>
        </p:spPr>
      </p:sp>
      <p:sp>
        <p:nvSpPr>
          <p:cNvPr id="11" name="Text 7"/>
          <p:cNvSpPr/>
          <p:nvPr/>
        </p:nvSpPr>
        <p:spPr>
          <a:xfrm>
            <a:off x="457200" y="6510528"/>
            <a:ext cx="7315200" cy="256032"/>
          </a:xfrm>
          <a:prstGeom prst="rect">
            <a:avLst/>
          </a:prstGeom>
          <a:noFill/>
          <a:ln/>
        </p:spPr>
        <p:txBody>
          <a:bodyPr wrap="square" rtlCol="0" anchor="ctr"/>
          <a:lstStyle/>
          <a:p>
            <a:pPr marL="0" indent="0" algn="l">
              <a:buNone/>
            </a:pPr>
            <a:r>
              <a:rPr lang="en-US" sz="900" dirty="0">
                <a:solidFill>
                  <a:srgbClr val="66788A"/>
                </a:solidFill>
                <a:latin typeface="Calibri" pitchFamily="34" charset="0"/>
                <a:ea typeface="Calibri" pitchFamily="34" charset="-122"/>
                <a:cs typeface="Calibri" pitchFamily="34" charset="-120"/>
              </a:rPr>
              <a:t>Sales Performance Analysis — Power BI Project</a:t>
            </a:r>
            <a:endParaRPr lang="en-US" sz="900" dirty="0"/>
          </a:p>
        </p:txBody>
      </p:sp>
      <p:sp>
        <p:nvSpPr>
          <p:cNvPr id="12" name="Text 8"/>
          <p:cNvSpPr/>
          <p:nvPr/>
        </p:nvSpPr>
        <p:spPr>
          <a:xfrm>
            <a:off x="11521440" y="6510528"/>
            <a:ext cx="365760" cy="256032"/>
          </a:xfrm>
          <a:prstGeom prst="rect">
            <a:avLst/>
          </a:prstGeom>
          <a:noFill/>
          <a:ln/>
        </p:spPr>
        <p:txBody>
          <a:bodyPr wrap="square" rtlCol="0" anchor="ctr"/>
          <a:lstStyle/>
          <a:p>
            <a:pPr marL="0" indent="0" algn="r">
              <a:buNone/>
            </a:pPr>
            <a:r>
              <a:rPr lang="en-US" sz="900" dirty="0">
                <a:solidFill>
                  <a:srgbClr val="66788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F6E8C"/>
          </a:solidFill>
          <a:ln/>
        </p:spPr>
      </p:sp>
      <p:sp>
        <p:nvSpPr>
          <p:cNvPr id="3" name="Text 1"/>
          <p:cNvSpPr/>
          <p:nvPr/>
        </p:nvSpPr>
        <p:spPr>
          <a:xfrm>
            <a:off x="502920" y="411480"/>
            <a:ext cx="7315200" cy="274320"/>
          </a:xfrm>
          <a:prstGeom prst="rect">
            <a:avLst/>
          </a:prstGeom>
          <a:noFill/>
          <a:ln/>
        </p:spPr>
        <p:txBody>
          <a:bodyPr wrap="square" rtlCol="0" anchor="ctr"/>
          <a:lstStyle/>
          <a:p>
            <a:pPr marL="0" indent="0">
              <a:buNone/>
            </a:pPr>
            <a:r>
              <a:rPr lang="en-US" sz="1200" b="1" kern="0" spc="200" dirty="0">
                <a:solidFill>
                  <a:srgbClr val="0F6E8C"/>
                </a:solidFill>
                <a:latin typeface="Calibri" pitchFamily="34" charset="0"/>
                <a:ea typeface="Calibri" pitchFamily="34" charset="-122"/>
                <a:cs typeface="Calibri" pitchFamily="34" charset="-120"/>
              </a:rPr>
              <a:t>SUMMARY</a:t>
            </a:r>
            <a:endParaRPr lang="en-US" sz="1200" dirty="0"/>
          </a:p>
        </p:txBody>
      </p:sp>
      <p:sp>
        <p:nvSpPr>
          <p:cNvPr id="4" name="Text 2"/>
          <p:cNvSpPr/>
          <p:nvPr/>
        </p:nvSpPr>
        <p:spPr>
          <a:xfrm>
            <a:off x="502920" y="685800"/>
            <a:ext cx="9601200" cy="685800"/>
          </a:xfrm>
          <a:prstGeom prst="rect">
            <a:avLst/>
          </a:prstGeom>
          <a:noFill/>
          <a:ln/>
        </p:spPr>
        <p:txBody>
          <a:bodyPr wrap="square" rtlCol="0" anchor="ctr"/>
          <a:lstStyle/>
          <a:p>
            <a:pPr marL="0" indent="0">
              <a:buNone/>
            </a:pPr>
            <a:r>
              <a:rPr lang="en-US" sz="2800" b="1" dirty="0">
                <a:solidFill>
                  <a:srgbClr val="16324F"/>
                </a:solidFill>
                <a:latin typeface="Cambria" pitchFamily="34" charset="0"/>
                <a:ea typeface="Cambria" pitchFamily="34" charset="-122"/>
                <a:cs typeface="Cambria" pitchFamily="34" charset="-120"/>
              </a:rPr>
              <a:t>Key Insights</a:t>
            </a:r>
            <a:endParaRPr lang="en-US" sz="2800" dirty="0"/>
          </a:p>
        </p:txBody>
      </p:sp>
      <p:sp>
        <p:nvSpPr>
          <p:cNvPr id="5" name="Shape 3"/>
          <p:cNvSpPr/>
          <p:nvPr/>
        </p:nvSpPr>
        <p:spPr>
          <a:xfrm>
            <a:off x="502920" y="1371600"/>
            <a:ext cx="1371600" cy="0"/>
          </a:xfrm>
          <a:prstGeom prst="line">
            <a:avLst/>
          </a:prstGeom>
          <a:noFill/>
          <a:ln w="31750">
            <a:solidFill>
              <a:srgbClr val="E08E45"/>
            </a:solidFill>
            <a:prstDash val="solid"/>
          </a:ln>
        </p:spPr>
      </p:sp>
      <p:sp>
        <p:nvSpPr>
          <p:cNvPr id="6" name="Shape 4"/>
          <p:cNvSpPr/>
          <p:nvPr/>
        </p:nvSpPr>
        <p:spPr>
          <a:xfrm>
            <a:off x="502920" y="1737360"/>
            <a:ext cx="457200" cy="457200"/>
          </a:xfrm>
          <a:prstGeom prst="roundRect">
            <a:avLst>
              <a:gd name="adj" fmla="val 16000"/>
            </a:avLst>
          </a:prstGeom>
          <a:solidFill>
            <a:srgbClr val="0F6E8C"/>
          </a:solidFill>
          <a:ln/>
        </p:spPr>
      </p:sp>
      <p:sp>
        <p:nvSpPr>
          <p:cNvPr id="7" name="Text 5"/>
          <p:cNvSpPr/>
          <p:nvPr/>
        </p:nvSpPr>
        <p:spPr>
          <a:xfrm>
            <a:off x="502920" y="173736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143000" y="1709928"/>
            <a:ext cx="3840480" cy="457200"/>
          </a:xfrm>
          <a:prstGeom prst="rect">
            <a:avLst/>
          </a:prstGeom>
          <a:noFill/>
          <a:ln/>
        </p:spPr>
        <p:txBody>
          <a:bodyPr wrap="square" rtlCol="0" anchor="ctr"/>
          <a:lstStyle/>
          <a:p>
            <a:pPr marL="0" indent="0">
              <a:buNone/>
            </a:pPr>
            <a:r>
              <a:rPr lang="en-US" sz="1350" b="1" dirty="0">
                <a:solidFill>
                  <a:srgbClr val="16324F"/>
                </a:solidFill>
                <a:latin typeface="Cambria" pitchFamily="34" charset="0"/>
                <a:ea typeface="Cambria" pitchFamily="34" charset="-122"/>
                <a:cs typeface="Cambria" pitchFamily="34" charset="-120"/>
              </a:rPr>
              <a:t>Category vs. Margin</a:t>
            </a:r>
            <a:endParaRPr lang="en-US" sz="1350" dirty="0"/>
          </a:p>
        </p:txBody>
      </p:sp>
      <p:sp>
        <p:nvSpPr>
          <p:cNvPr id="9" name="Text 7"/>
          <p:cNvSpPr/>
          <p:nvPr/>
        </p:nvSpPr>
        <p:spPr>
          <a:xfrm>
            <a:off x="5074920" y="1709928"/>
            <a:ext cx="6583680" cy="502920"/>
          </a:xfrm>
          <a:prstGeom prst="rect">
            <a:avLst/>
          </a:prstGeom>
          <a:noFill/>
          <a:ln/>
        </p:spPr>
        <p:txBody>
          <a:bodyPr wrap="square" rtlCol="0" anchor="ctr"/>
          <a:lstStyle/>
          <a:p>
            <a:pPr marL="0" indent="0">
              <a:lnSpc>
                <a:spcPts val="1500"/>
              </a:lnSpc>
              <a:buNone/>
            </a:pPr>
            <a:r>
              <a:rPr lang="en-US" sz="1150" dirty="0">
                <a:solidFill>
                  <a:srgbClr val="233240"/>
                </a:solidFill>
                <a:latin typeface="Calibri" pitchFamily="34" charset="0"/>
                <a:ea typeface="Calibri" pitchFamily="34" charset="-122"/>
                <a:cs typeface="Calibri" pitchFamily="34" charset="-120"/>
              </a:rPr>
              <a:t>Electronics and Accessories are the most profitable categories (~39%, ~38.6% margin), even though Clothing has the highest sales.</a:t>
            </a:r>
            <a:endParaRPr lang="en-US" sz="1150" dirty="0"/>
          </a:p>
        </p:txBody>
      </p:sp>
      <p:sp>
        <p:nvSpPr>
          <p:cNvPr id="10" name="Shape 8"/>
          <p:cNvSpPr/>
          <p:nvPr/>
        </p:nvSpPr>
        <p:spPr>
          <a:xfrm>
            <a:off x="502920" y="2606040"/>
            <a:ext cx="457200" cy="457200"/>
          </a:xfrm>
          <a:prstGeom prst="roundRect">
            <a:avLst>
              <a:gd name="adj" fmla="val 16000"/>
            </a:avLst>
          </a:prstGeom>
          <a:solidFill>
            <a:srgbClr val="0F6E8C"/>
          </a:solidFill>
          <a:ln/>
        </p:spPr>
      </p:sp>
      <p:sp>
        <p:nvSpPr>
          <p:cNvPr id="11" name="Text 9"/>
          <p:cNvSpPr/>
          <p:nvPr/>
        </p:nvSpPr>
        <p:spPr>
          <a:xfrm>
            <a:off x="502920" y="260604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1143000" y="2578608"/>
            <a:ext cx="3840480" cy="457200"/>
          </a:xfrm>
          <a:prstGeom prst="rect">
            <a:avLst/>
          </a:prstGeom>
          <a:noFill/>
          <a:ln/>
        </p:spPr>
        <p:txBody>
          <a:bodyPr wrap="square" rtlCol="0" anchor="ctr"/>
          <a:lstStyle/>
          <a:p>
            <a:pPr marL="0" indent="0">
              <a:buNone/>
            </a:pPr>
            <a:r>
              <a:rPr lang="en-US" sz="1350" b="1" dirty="0">
                <a:solidFill>
                  <a:srgbClr val="16324F"/>
                </a:solidFill>
                <a:latin typeface="Cambria" pitchFamily="34" charset="0"/>
                <a:ea typeface="Cambria" pitchFamily="34" charset="-122"/>
                <a:cs typeface="Cambria" pitchFamily="34" charset="-120"/>
              </a:rPr>
              <a:t>Discount Effect</a:t>
            </a:r>
            <a:endParaRPr lang="en-US" sz="1350" dirty="0"/>
          </a:p>
        </p:txBody>
      </p:sp>
      <p:sp>
        <p:nvSpPr>
          <p:cNvPr id="13" name="Text 11"/>
          <p:cNvSpPr/>
          <p:nvPr/>
        </p:nvSpPr>
        <p:spPr>
          <a:xfrm>
            <a:off x="5074920" y="2578608"/>
            <a:ext cx="6583680" cy="502920"/>
          </a:xfrm>
          <a:prstGeom prst="rect">
            <a:avLst/>
          </a:prstGeom>
          <a:noFill/>
          <a:ln/>
        </p:spPr>
        <p:txBody>
          <a:bodyPr wrap="square" rtlCol="0" anchor="ctr"/>
          <a:lstStyle/>
          <a:p>
            <a:pPr marL="0" indent="0">
              <a:lnSpc>
                <a:spcPts val="1500"/>
              </a:lnSpc>
              <a:buNone/>
            </a:pPr>
            <a:r>
              <a:rPr lang="en-US" sz="1150" dirty="0">
                <a:solidFill>
                  <a:srgbClr val="233240"/>
                </a:solidFill>
                <a:latin typeface="Calibri" pitchFamily="34" charset="0"/>
                <a:ea typeface="Calibri" pitchFamily="34" charset="-122"/>
                <a:cs typeface="Calibri" pitchFamily="34" charset="-120"/>
              </a:rPr>
              <a:t>Any discount reduces profit margin by about 6.6 percentage points — discounting has a real, measurable cost.</a:t>
            </a:r>
            <a:endParaRPr lang="en-US" sz="1150" dirty="0"/>
          </a:p>
        </p:txBody>
      </p:sp>
      <p:sp>
        <p:nvSpPr>
          <p:cNvPr id="14" name="Shape 12"/>
          <p:cNvSpPr/>
          <p:nvPr/>
        </p:nvSpPr>
        <p:spPr>
          <a:xfrm>
            <a:off x="502920" y="3474720"/>
            <a:ext cx="457200" cy="457200"/>
          </a:xfrm>
          <a:prstGeom prst="roundRect">
            <a:avLst>
              <a:gd name="adj" fmla="val 16000"/>
            </a:avLst>
          </a:prstGeom>
          <a:solidFill>
            <a:srgbClr val="0F6E8C"/>
          </a:solidFill>
          <a:ln/>
        </p:spPr>
      </p:sp>
      <p:sp>
        <p:nvSpPr>
          <p:cNvPr id="15" name="Text 13"/>
          <p:cNvSpPr/>
          <p:nvPr/>
        </p:nvSpPr>
        <p:spPr>
          <a:xfrm>
            <a:off x="502920" y="347472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6" name="Text 14"/>
          <p:cNvSpPr/>
          <p:nvPr/>
        </p:nvSpPr>
        <p:spPr>
          <a:xfrm>
            <a:off x="1143000" y="3447288"/>
            <a:ext cx="3840480" cy="457200"/>
          </a:xfrm>
          <a:prstGeom prst="rect">
            <a:avLst/>
          </a:prstGeom>
          <a:noFill/>
          <a:ln/>
        </p:spPr>
        <p:txBody>
          <a:bodyPr wrap="square" rtlCol="0" anchor="ctr"/>
          <a:lstStyle/>
          <a:p>
            <a:pPr marL="0" indent="0">
              <a:buNone/>
            </a:pPr>
            <a:r>
              <a:rPr lang="en-US" sz="1350" b="1" dirty="0">
                <a:solidFill>
                  <a:srgbClr val="16324F"/>
                </a:solidFill>
                <a:latin typeface="Cambria" pitchFamily="34" charset="0"/>
                <a:ea typeface="Cambria" pitchFamily="34" charset="-122"/>
                <a:cs typeface="Cambria" pitchFamily="34" charset="-120"/>
              </a:rPr>
              <a:t>Customer Base</a:t>
            </a:r>
            <a:endParaRPr lang="en-US" sz="1350" dirty="0"/>
          </a:p>
        </p:txBody>
      </p:sp>
      <p:sp>
        <p:nvSpPr>
          <p:cNvPr id="17" name="Text 15"/>
          <p:cNvSpPr/>
          <p:nvPr/>
        </p:nvSpPr>
        <p:spPr>
          <a:xfrm>
            <a:off x="5074920" y="3447288"/>
            <a:ext cx="6583680" cy="502920"/>
          </a:xfrm>
          <a:prstGeom prst="rect">
            <a:avLst/>
          </a:prstGeom>
          <a:noFill/>
          <a:ln/>
        </p:spPr>
        <p:txBody>
          <a:bodyPr wrap="square" rtlCol="0" anchor="ctr"/>
          <a:lstStyle/>
          <a:p>
            <a:pPr marL="0" indent="0">
              <a:lnSpc>
                <a:spcPts val="1500"/>
              </a:lnSpc>
              <a:buNone/>
            </a:pPr>
            <a:r>
              <a:rPr lang="en-US" sz="1150" dirty="0">
                <a:solidFill>
                  <a:srgbClr val="233240"/>
                </a:solidFill>
                <a:latin typeface="Calibri" pitchFamily="34" charset="0"/>
                <a:ea typeface="Calibri" pitchFamily="34" charset="-122"/>
                <a:cs typeface="Calibri" pitchFamily="34" charset="-120"/>
              </a:rPr>
              <a:t>Over 60% of orders come from Bronze-tier customers — revenue is broad-based, not concentrated in a few top spenders.</a:t>
            </a:r>
            <a:endParaRPr lang="en-US" sz="1150" dirty="0"/>
          </a:p>
        </p:txBody>
      </p:sp>
      <p:sp>
        <p:nvSpPr>
          <p:cNvPr id="18" name="Shape 16"/>
          <p:cNvSpPr/>
          <p:nvPr/>
        </p:nvSpPr>
        <p:spPr>
          <a:xfrm>
            <a:off x="502920" y="4343400"/>
            <a:ext cx="457200" cy="457200"/>
          </a:xfrm>
          <a:prstGeom prst="roundRect">
            <a:avLst>
              <a:gd name="adj" fmla="val 16000"/>
            </a:avLst>
          </a:prstGeom>
          <a:solidFill>
            <a:srgbClr val="0F6E8C"/>
          </a:solidFill>
          <a:ln/>
        </p:spPr>
      </p:sp>
      <p:sp>
        <p:nvSpPr>
          <p:cNvPr id="19" name="Text 17"/>
          <p:cNvSpPr/>
          <p:nvPr/>
        </p:nvSpPr>
        <p:spPr>
          <a:xfrm>
            <a:off x="502920" y="434340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0" name="Text 18"/>
          <p:cNvSpPr/>
          <p:nvPr/>
        </p:nvSpPr>
        <p:spPr>
          <a:xfrm>
            <a:off x="1143000" y="4315968"/>
            <a:ext cx="3840480" cy="457200"/>
          </a:xfrm>
          <a:prstGeom prst="rect">
            <a:avLst/>
          </a:prstGeom>
          <a:noFill/>
          <a:ln/>
        </p:spPr>
        <p:txBody>
          <a:bodyPr wrap="square" rtlCol="0" anchor="ctr"/>
          <a:lstStyle/>
          <a:p>
            <a:pPr marL="0" indent="0">
              <a:buNone/>
            </a:pPr>
            <a:r>
              <a:rPr lang="en-US" sz="1350" b="1" dirty="0">
                <a:solidFill>
                  <a:srgbClr val="16324F"/>
                </a:solidFill>
                <a:latin typeface="Cambria" pitchFamily="34" charset="0"/>
                <a:ea typeface="Cambria" pitchFamily="34" charset="-122"/>
                <a:cs typeface="Cambria" pitchFamily="34" charset="-120"/>
              </a:rPr>
              <a:t>Channel Performance</a:t>
            </a:r>
            <a:endParaRPr lang="en-US" sz="1350" dirty="0"/>
          </a:p>
        </p:txBody>
      </p:sp>
      <p:sp>
        <p:nvSpPr>
          <p:cNvPr id="21" name="Text 19"/>
          <p:cNvSpPr/>
          <p:nvPr/>
        </p:nvSpPr>
        <p:spPr>
          <a:xfrm>
            <a:off x="5074920" y="4315968"/>
            <a:ext cx="6583680" cy="502920"/>
          </a:xfrm>
          <a:prstGeom prst="rect">
            <a:avLst/>
          </a:prstGeom>
          <a:noFill/>
          <a:ln/>
        </p:spPr>
        <p:txBody>
          <a:bodyPr wrap="square" rtlCol="0" anchor="ctr"/>
          <a:lstStyle/>
          <a:p>
            <a:pPr marL="0" indent="0">
              <a:lnSpc>
                <a:spcPts val="1500"/>
              </a:lnSpc>
              <a:buNone/>
            </a:pPr>
            <a:r>
              <a:rPr lang="en-US" sz="1150" dirty="0">
                <a:solidFill>
                  <a:srgbClr val="233240"/>
                </a:solidFill>
                <a:latin typeface="Calibri" pitchFamily="34" charset="0"/>
                <a:ea typeface="Calibri" pitchFamily="34" charset="-122"/>
                <a:cs typeface="Calibri" pitchFamily="34" charset="-120"/>
              </a:rPr>
              <a:t>Online, Partner, Phone, and Retail all perform within 1% of each other — channel is not a differentiator.</a:t>
            </a:r>
            <a:endParaRPr lang="en-US" sz="1150" dirty="0"/>
          </a:p>
        </p:txBody>
      </p:sp>
      <p:sp>
        <p:nvSpPr>
          <p:cNvPr id="22" name="Shape 20"/>
          <p:cNvSpPr/>
          <p:nvPr/>
        </p:nvSpPr>
        <p:spPr>
          <a:xfrm>
            <a:off x="502920" y="5212080"/>
            <a:ext cx="457200" cy="457200"/>
          </a:xfrm>
          <a:prstGeom prst="roundRect">
            <a:avLst>
              <a:gd name="adj" fmla="val 16000"/>
            </a:avLst>
          </a:prstGeom>
          <a:solidFill>
            <a:srgbClr val="0F6E8C"/>
          </a:solidFill>
          <a:ln/>
        </p:spPr>
      </p:sp>
      <p:sp>
        <p:nvSpPr>
          <p:cNvPr id="23" name="Text 21"/>
          <p:cNvSpPr/>
          <p:nvPr/>
        </p:nvSpPr>
        <p:spPr>
          <a:xfrm>
            <a:off x="502920" y="521208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4" name="Text 22"/>
          <p:cNvSpPr/>
          <p:nvPr/>
        </p:nvSpPr>
        <p:spPr>
          <a:xfrm>
            <a:off x="1143000" y="5184648"/>
            <a:ext cx="3840480" cy="457200"/>
          </a:xfrm>
          <a:prstGeom prst="rect">
            <a:avLst/>
          </a:prstGeom>
          <a:noFill/>
          <a:ln/>
        </p:spPr>
        <p:txBody>
          <a:bodyPr wrap="square" rtlCol="0" anchor="ctr"/>
          <a:lstStyle/>
          <a:p>
            <a:pPr marL="0" indent="0">
              <a:buNone/>
            </a:pPr>
            <a:r>
              <a:rPr lang="en-US" sz="1350" b="1" dirty="0">
                <a:solidFill>
                  <a:srgbClr val="16324F"/>
                </a:solidFill>
                <a:latin typeface="Cambria" pitchFamily="34" charset="0"/>
                <a:ea typeface="Cambria" pitchFamily="34" charset="-122"/>
                <a:cs typeface="Cambria" pitchFamily="34" charset="-120"/>
              </a:rPr>
              <a:t>Growth Trend</a:t>
            </a:r>
            <a:endParaRPr lang="en-US" sz="1350" dirty="0"/>
          </a:p>
        </p:txBody>
      </p:sp>
      <p:sp>
        <p:nvSpPr>
          <p:cNvPr id="25" name="Text 23"/>
          <p:cNvSpPr/>
          <p:nvPr/>
        </p:nvSpPr>
        <p:spPr>
          <a:xfrm>
            <a:off x="5074920" y="5184648"/>
            <a:ext cx="6583680" cy="502920"/>
          </a:xfrm>
          <a:prstGeom prst="rect">
            <a:avLst/>
          </a:prstGeom>
          <a:noFill/>
          <a:ln/>
        </p:spPr>
        <p:txBody>
          <a:bodyPr wrap="square" rtlCol="0" anchor="ctr"/>
          <a:lstStyle/>
          <a:p>
            <a:pPr marL="0" indent="0">
              <a:lnSpc>
                <a:spcPts val="1500"/>
              </a:lnSpc>
              <a:buNone/>
            </a:pPr>
            <a:r>
              <a:rPr lang="en-US" sz="1150" dirty="0">
                <a:solidFill>
                  <a:srgbClr val="233240"/>
                </a:solidFill>
                <a:latin typeface="Calibri" pitchFamily="34" charset="0"/>
                <a:ea typeface="Calibri" pitchFamily="34" charset="-122"/>
                <a:cs typeface="Calibri" pitchFamily="34" charset="-120"/>
              </a:rPr>
              <a:t>Sales have stayed close to $10M per year since 2018 — growth has been flat for seven years.</a:t>
            </a:r>
            <a:endParaRPr lang="en-US" sz="1150" dirty="0"/>
          </a:p>
        </p:txBody>
      </p:sp>
      <p:sp>
        <p:nvSpPr>
          <p:cNvPr id="26" name="Shape 24"/>
          <p:cNvSpPr/>
          <p:nvPr/>
        </p:nvSpPr>
        <p:spPr>
          <a:xfrm>
            <a:off x="0" y="6784848"/>
            <a:ext cx="12188952" cy="73152"/>
          </a:xfrm>
          <a:prstGeom prst="rect">
            <a:avLst/>
          </a:prstGeom>
          <a:solidFill>
            <a:srgbClr val="0F6E8C"/>
          </a:solidFill>
          <a:ln/>
        </p:spPr>
      </p:sp>
      <p:sp>
        <p:nvSpPr>
          <p:cNvPr id="27" name="Text 25"/>
          <p:cNvSpPr/>
          <p:nvPr/>
        </p:nvSpPr>
        <p:spPr>
          <a:xfrm>
            <a:off x="457200" y="6510528"/>
            <a:ext cx="7315200" cy="256032"/>
          </a:xfrm>
          <a:prstGeom prst="rect">
            <a:avLst/>
          </a:prstGeom>
          <a:noFill/>
          <a:ln/>
        </p:spPr>
        <p:txBody>
          <a:bodyPr wrap="square" rtlCol="0" anchor="ctr"/>
          <a:lstStyle/>
          <a:p>
            <a:pPr marL="0" indent="0" algn="l">
              <a:buNone/>
            </a:pPr>
            <a:r>
              <a:rPr lang="en-US" sz="900" dirty="0">
                <a:solidFill>
                  <a:srgbClr val="66788A"/>
                </a:solidFill>
                <a:latin typeface="Calibri" pitchFamily="34" charset="0"/>
                <a:ea typeface="Calibri" pitchFamily="34" charset="-122"/>
                <a:cs typeface="Calibri" pitchFamily="34" charset="-120"/>
              </a:rPr>
              <a:t>Sales Performance Analysis — Power BI Project</a:t>
            </a:r>
            <a:endParaRPr lang="en-US" sz="900" dirty="0"/>
          </a:p>
        </p:txBody>
      </p:sp>
      <p:sp>
        <p:nvSpPr>
          <p:cNvPr id="28" name="Text 26"/>
          <p:cNvSpPr/>
          <p:nvPr/>
        </p:nvSpPr>
        <p:spPr>
          <a:xfrm>
            <a:off x="11521440" y="6510528"/>
            <a:ext cx="365760" cy="256032"/>
          </a:xfrm>
          <a:prstGeom prst="rect">
            <a:avLst/>
          </a:prstGeom>
          <a:noFill/>
          <a:ln/>
        </p:spPr>
        <p:txBody>
          <a:bodyPr wrap="square" rtlCol="0" anchor="ctr"/>
          <a:lstStyle/>
          <a:p>
            <a:pPr marL="0" indent="0" algn="r">
              <a:buNone/>
            </a:pPr>
            <a:r>
              <a:rPr lang="en-US" sz="900" dirty="0">
                <a:solidFill>
                  <a:srgbClr val="66788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F6E8C"/>
          </a:solidFill>
          <a:ln/>
        </p:spPr>
      </p:sp>
      <p:sp>
        <p:nvSpPr>
          <p:cNvPr id="3" name="Text 1"/>
          <p:cNvSpPr/>
          <p:nvPr/>
        </p:nvSpPr>
        <p:spPr>
          <a:xfrm>
            <a:off x="502920" y="411480"/>
            <a:ext cx="7315200" cy="274320"/>
          </a:xfrm>
          <a:prstGeom prst="rect">
            <a:avLst/>
          </a:prstGeom>
          <a:noFill/>
          <a:ln/>
        </p:spPr>
        <p:txBody>
          <a:bodyPr wrap="square" rtlCol="0" anchor="ctr"/>
          <a:lstStyle/>
          <a:p>
            <a:pPr marL="0" indent="0">
              <a:buNone/>
            </a:pPr>
            <a:r>
              <a:rPr lang="en-US" sz="1200" b="1" kern="0" spc="200" dirty="0">
                <a:solidFill>
                  <a:srgbClr val="0F6E8C"/>
                </a:solidFill>
                <a:latin typeface="Calibri" pitchFamily="34" charset="0"/>
                <a:ea typeface="Calibri" pitchFamily="34" charset="-122"/>
                <a:cs typeface="Calibri" pitchFamily="34" charset="-120"/>
              </a:rPr>
              <a:t>CONCLUSION</a:t>
            </a:r>
            <a:endParaRPr lang="en-US" sz="1200" dirty="0"/>
          </a:p>
        </p:txBody>
      </p:sp>
      <p:sp>
        <p:nvSpPr>
          <p:cNvPr id="4" name="Text 2"/>
          <p:cNvSpPr/>
          <p:nvPr/>
        </p:nvSpPr>
        <p:spPr>
          <a:xfrm>
            <a:off x="502920" y="685800"/>
            <a:ext cx="9601200" cy="685800"/>
          </a:xfrm>
          <a:prstGeom prst="rect">
            <a:avLst/>
          </a:prstGeom>
          <a:noFill/>
          <a:ln/>
        </p:spPr>
        <p:txBody>
          <a:bodyPr wrap="square" rtlCol="0" anchor="ctr"/>
          <a:lstStyle/>
          <a:p>
            <a:pPr marL="0" indent="0">
              <a:buNone/>
            </a:pPr>
            <a:r>
              <a:rPr lang="en-US" sz="2800" b="1" dirty="0">
                <a:solidFill>
                  <a:srgbClr val="16324F"/>
                </a:solidFill>
                <a:latin typeface="Cambria" pitchFamily="34" charset="0"/>
                <a:ea typeface="Cambria" pitchFamily="34" charset="-122"/>
                <a:cs typeface="Cambria" pitchFamily="34" charset="-120"/>
              </a:rPr>
              <a:t>Recommendations</a:t>
            </a:r>
            <a:endParaRPr lang="en-US" sz="2800" dirty="0"/>
          </a:p>
        </p:txBody>
      </p:sp>
      <p:sp>
        <p:nvSpPr>
          <p:cNvPr id="5" name="Shape 3"/>
          <p:cNvSpPr/>
          <p:nvPr/>
        </p:nvSpPr>
        <p:spPr>
          <a:xfrm>
            <a:off x="502920" y="1371600"/>
            <a:ext cx="1371600" cy="0"/>
          </a:xfrm>
          <a:prstGeom prst="line">
            <a:avLst/>
          </a:prstGeom>
          <a:noFill/>
          <a:ln w="31750">
            <a:solidFill>
              <a:srgbClr val="E08E45"/>
            </a:solidFill>
            <a:prstDash val="solid"/>
          </a:ln>
        </p:spPr>
      </p:sp>
      <p:sp>
        <p:nvSpPr>
          <p:cNvPr id="6" name="Shape 4"/>
          <p:cNvSpPr/>
          <p:nvPr/>
        </p:nvSpPr>
        <p:spPr>
          <a:xfrm>
            <a:off x="502920" y="1737360"/>
            <a:ext cx="502920" cy="502920"/>
          </a:xfrm>
          <a:prstGeom prst="roundRect">
            <a:avLst>
              <a:gd name="adj" fmla="val 14545"/>
            </a:avLst>
          </a:prstGeom>
          <a:solidFill>
            <a:srgbClr val="E08E45"/>
          </a:solidFill>
          <a:ln/>
        </p:spPr>
      </p:sp>
      <p:sp>
        <p:nvSpPr>
          <p:cNvPr id="7" name="Text 5"/>
          <p:cNvSpPr/>
          <p:nvPr/>
        </p:nvSpPr>
        <p:spPr>
          <a:xfrm>
            <a:off x="502920" y="173736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234440" y="1709928"/>
            <a:ext cx="9875520" cy="365760"/>
          </a:xfrm>
          <a:prstGeom prst="rect">
            <a:avLst/>
          </a:prstGeom>
          <a:noFill/>
          <a:ln/>
        </p:spPr>
        <p:txBody>
          <a:bodyPr wrap="square" rtlCol="0" anchor="ctr"/>
          <a:lstStyle/>
          <a:p>
            <a:pPr marL="0" indent="0">
              <a:buNone/>
            </a:pPr>
            <a:r>
              <a:rPr lang="en-US" sz="1500" b="1" dirty="0">
                <a:solidFill>
                  <a:srgbClr val="16324F"/>
                </a:solidFill>
                <a:latin typeface="Cambria" pitchFamily="34" charset="0"/>
                <a:ea typeface="Cambria" pitchFamily="34" charset="-122"/>
                <a:cs typeface="Cambria" pitchFamily="34" charset="-120"/>
              </a:rPr>
              <a:t>Review the discount policy</a:t>
            </a:r>
            <a:endParaRPr lang="en-US" sz="1500" dirty="0"/>
          </a:p>
        </p:txBody>
      </p:sp>
      <p:sp>
        <p:nvSpPr>
          <p:cNvPr id="9" name="Text 7"/>
          <p:cNvSpPr/>
          <p:nvPr/>
        </p:nvSpPr>
        <p:spPr>
          <a:xfrm>
            <a:off x="1234440" y="2057400"/>
            <a:ext cx="9875520" cy="502920"/>
          </a:xfrm>
          <a:prstGeom prst="rect">
            <a:avLst/>
          </a:prstGeom>
          <a:noFill/>
          <a:ln/>
        </p:spPr>
        <p:txBody>
          <a:bodyPr wrap="square" rtlCol="0" anchor="ctr"/>
          <a:lstStyle/>
          <a:p>
            <a:pPr marL="0" indent="0">
              <a:lnSpc>
                <a:spcPts val="1500"/>
              </a:lnSpc>
              <a:buNone/>
            </a:pPr>
            <a:r>
              <a:rPr lang="en-US" sz="1200" dirty="0">
                <a:solidFill>
                  <a:srgbClr val="66788A"/>
                </a:solidFill>
                <a:latin typeface="Calibri" pitchFamily="34" charset="0"/>
                <a:ea typeface="Calibri" pitchFamily="34" charset="-122"/>
                <a:cs typeface="Calibri" pitchFamily="34" charset="-120"/>
              </a:rPr>
              <a:t>Set clearer limits on discounts, since even a small discount lowers profit margin noticeably.</a:t>
            </a:r>
            <a:endParaRPr lang="en-US" sz="1200" dirty="0"/>
          </a:p>
        </p:txBody>
      </p:sp>
      <p:sp>
        <p:nvSpPr>
          <p:cNvPr id="10" name="Shape 8"/>
          <p:cNvSpPr/>
          <p:nvPr/>
        </p:nvSpPr>
        <p:spPr>
          <a:xfrm>
            <a:off x="502920" y="2788920"/>
            <a:ext cx="502920" cy="502920"/>
          </a:xfrm>
          <a:prstGeom prst="roundRect">
            <a:avLst>
              <a:gd name="adj" fmla="val 14545"/>
            </a:avLst>
          </a:prstGeom>
          <a:solidFill>
            <a:srgbClr val="E08E45"/>
          </a:solidFill>
          <a:ln/>
        </p:spPr>
      </p:sp>
      <p:sp>
        <p:nvSpPr>
          <p:cNvPr id="11" name="Text 9"/>
          <p:cNvSpPr/>
          <p:nvPr/>
        </p:nvSpPr>
        <p:spPr>
          <a:xfrm>
            <a:off x="502920" y="278892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1234440" y="2761488"/>
            <a:ext cx="9875520" cy="365760"/>
          </a:xfrm>
          <a:prstGeom prst="rect">
            <a:avLst/>
          </a:prstGeom>
          <a:noFill/>
          <a:ln/>
        </p:spPr>
        <p:txBody>
          <a:bodyPr wrap="square" rtlCol="0" anchor="ctr"/>
          <a:lstStyle/>
          <a:p>
            <a:pPr marL="0" indent="0">
              <a:buNone/>
            </a:pPr>
            <a:r>
              <a:rPr lang="en-US" sz="1500" b="1" dirty="0">
                <a:solidFill>
                  <a:srgbClr val="16324F"/>
                </a:solidFill>
                <a:latin typeface="Cambria" pitchFamily="34" charset="0"/>
                <a:ea typeface="Cambria" pitchFamily="34" charset="-122"/>
                <a:cs typeface="Cambria" pitchFamily="34" charset="-120"/>
              </a:rPr>
              <a:t>Focus on Electronics and Accessories</a:t>
            </a:r>
            <a:endParaRPr lang="en-US" sz="1500" dirty="0"/>
          </a:p>
        </p:txBody>
      </p:sp>
      <p:sp>
        <p:nvSpPr>
          <p:cNvPr id="13" name="Text 11"/>
          <p:cNvSpPr/>
          <p:nvPr/>
        </p:nvSpPr>
        <p:spPr>
          <a:xfrm>
            <a:off x="1234440" y="3108960"/>
            <a:ext cx="9875520" cy="502920"/>
          </a:xfrm>
          <a:prstGeom prst="rect">
            <a:avLst/>
          </a:prstGeom>
          <a:noFill/>
          <a:ln/>
        </p:spPr>
        <p:txBody>
          <a:bodyPr wrap="square" rtlCol="0" anchor="ctr"/>
          <a:lstStyle/>
          <a:p>
            <a:pPr marL="0" indent="0">
              <a:lnSpc>
                <a:spcPts val="1500"/>
              </a:lnSpc>
              <a:buNone/>
            </a:pPr>
            <a:r>
              <a:rPr lang="en-US" sz="1200" dirty="0">
                <a:solidFill>
                  <a:srgbClr val="66788A"/>
                </a:solidFill>
                <a:latin typeface="Calibri" pitchFamily="34" charset="0"/>
                <a:ea typeface="Calibri" pitchFamily="34" charset="-122"/>
                <a:cs typeface="Calibri" pitchFamily="34" charset="-120"/>
              </a:rPr>
              <a:t>These categories offer the best margins and deserve more marketing attention.</a:t>
            </a:r>
            <a:endParaRPr lang="en-US" sz="1200" dirty="0"/>
          </a:p>
        </p:txBody>
      </p:sp>
      <p:sp>
        <p:nvSpPr>
          <p:cNvPr id="14" name="Shape 12"/>
          <p:cNvSpPr/>
          <p:nvPr/>
        </p:nvSpPr>
        <p:spPr>
          <a:xfrm>
            <a:off x="502920" y="3840480"/>
            <a:ext cx="502920" cy="502920"/>
          </a:xfrm>
          <a:prstGeom prst="roundRect">
            <a:avLst>
              <a:gd name="adj" fmla="val 14545"/>
            </a:avLst>
          </a:prstGeom>
          <a:solidFill>
            <a:srgbClr val="E08E45"/>
          </a:solidFill>
          <a:ln/>
        </p:spPr>
      </p:sp>
      <p:sp>
        <p:nvSpPr>
          <p:cNvPr id="15" name="Text 13"/>
          <p:cNvSpPr/>
          <p:nvPr/>
        </p:nvSpPr>
        <p:spPr>
          <a:xfrm>
            <a:off x="502920" y="384048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1234440" y="3813048"/>
            <a:ext cx="9875520" cy="365760"/>
          </a:xfrm>
          <a:prstGeom prst="rect">
            <a:avLst/>
          </a:prstGeom>
          <a:noFill/>
          <a:ln/>
        </p:spPr>
        <p:txBody>
          <a:bodyPr wrap="square" rtlCol="0" anchor="ctr"/>
          <a:lstStyle/>
          <a:p>
            <a:pPr marL="0" indent="0">
              <a:buNone/>
            </a:pPr>
            <a:r>
              <a:rPr lang="en-US" sz="1500" b="1" dirty="0">
                <a:solidFill>
                  <a:srgbClr val="16324F"/>
                </a:solidFill>
                <a:latin typeface="Cambria" pitchFamily="34" charset="0"/>
                <a:ea typeface="Cambria" pitchFamily="34" charset="-122"/>
                <a:cs typeface="Cambria" pitchFamily="34" charset="-120"/>
              </a:rPr>
              <a:t>Encourage Bronze customers to upgrade</a:t>
            </a:r>
            <a:endParaRPr lang="en-US" sz="1500" dirty="0"/>
          </a:p>
        </p:txBody>
      </p:sp>
      <p:sp>
        <p:nvSpPr>
          <p:cNvPr id="17" name="Text 15"/>
          <p:cNvSpPr/>
          <p:nvPr/>
        </p:nvSpPr>
        <p:spPr>
          <a:xfrm>
            <a:off x="1234440" y="4160520"/>
            <a:ext cx="9875520" cy="502920"/>
          </a:xfrm>
          <a:prstGeom prst="rect">
            <a:avLst/>
          </a:prstGeom>
          <a:noFill/>
          <a:ln/>
        </p:spPr>
        <p:txBody>
          <a:bodyPr wrap="square" rtlCol="0" anchor="ctr"/>
          <a:lstStyle/>
          <a:p>
            <a:pPr marL="0" indent="0">
              <a:lnSpc>
                <a:spcPts val="1500"/>
              </a:lnSpc>
              <a:buNone/>
            </a:pPr>
            <a:r>
              <a:rPr lang="en-US" sz="1200" dirty="0">
                <a:solidFill>
                  <a:srgbClr val="66788A"/>
                </a:solidFill>
                <a:latin typeface="Calibri" pitchFamily="34" charset="0"/>
                <a:ea typeface="Calibri" pitchFamily="34" charset="-122"/>
                <a:cs typeface="Calibri" pitchFamily="34" charset="-120"/>
              </a:rPr>
              <a:t>With 60% of orders from entry-level customers, loyalty offers could increase overall revenue.</a:t>
            </a:r>
            <a:endParaRPr lang="en-US" sz="1200" dirty="0"/>
          </a:p>
        </p:txBody>
      </p:sp>
      <p:sp>
        <p:nvSpPr>
          <p:cNvPr id="18" name="Shape 16"/>
          <p:cNvSpPr/>
          <p:nvPr/>
        </p:nvSpPr>
        <p:spPr>
          <a:xfrm>
            <a:off x="502920" y="4892040"/>
            <a:ext cx="502920" cy="502920"/>
          </a:xfrm>
          <a:prstGeom prst="roundRect">
            <a:avLst>
              <a:gd name="adj" fmla="val 14545"/>
            </a:avLst>
          </a:prstGeom>
          <a:solidFill>
            <a:srgbClr val="E08E45"/>
          </a:solidFill>
          <a:ln/>
        </p:spPr>
      </p:sp>
      <p:sp>
        <p:nvSpPr>
          <p:cNvPr id="19" name="Text 17"/>
          <p:cNvSpPr/>
          <p:nvPr/>
        </p:nvSpPr>
        <p:spPr>
          <a:xfrm>
            <a:off x="502920" y="489204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0" name="Text 18"/>
          <p:cNvSpPr/>
          <p:nvPr/>
        </p:nvSpPr>
        <p:spPr>
          <a:xfrm>
            <a:off x="1234440" y="4864608"/>
            <a:ext cx="9875520" cy="365760"/>
          </a:xfrm>
          <a:prstGeom prst="rect">
            <a:avLst/>
          </a:prstGeom>
          <a:noFill/>
          <a:ln/>
        </p:spPr>
        <p:txBody>
          <a:bodyPr wrap="square" rtlCol="0" anchor="ctr"/>
          <a:lstStyle/>
          <a:p>
            <a:pPr marL="0" indent="0">
              <a:buNone/>
            </a:pPr>
            <a:r>
              <a:rPr lang="en-US" sz="1500" b="1" dirty="0">
                <a:solidFill>
                  <a:srgbClr val="16324F"/>
                </a:solidFill>
                <a:latin typeface="Cambria" pitchFamily="34" charset="0"/>
                <a:ea typeface="Cambria" pitchFamily="34" charset="-122"/>
                <a:cs typeface="Cambria" pitchFamily="34" charset="-120"/>
              </a:rPr>
              <a:t>Investigate the flat sales trend</a:t>
            </a:r>
            <a:endParaRPr lang="en-US" sz="1500" dirty="0"/>
          </a:p>
        </p:txBody>
      </p:sp>
      <p:sp>
        <p:nvSpPr>
          <p:cNvPr id="21" name="Text 19"/>
          <p:cNvSpPr/>
          <p:nvPr/>
        </p:nvSpPr>
        <p:spPr>
          <a:xfrm>
            <a:off x="1234440" y="5212080"/>
            <a:ext cx="9875520" cy="502920"/>
          </a:xfrm>
          <a:prstGeom prst="rect">
            <a:avLst/>
          </a:prstGeom>
          <a:noFill/>
          <a:ln/>
        </p:spPr>
        <p:txBody>
          <a:bodyPr wrap="square" rtlCol="0" anchor="ctr"/>
          <a:lstStyle/>
          <a:p>
            <a:pPr marL="0" indent="0">
              <a:lnSpc>
                <a:spcPts val="1500"/>
              </a:lnSpc>
              <a:buNone/>
            </a:pPr>
            <a:r>
              <a:rPr lang="en-US" sz="1200" dirty="0">
                <a:solidFill>
                  <a:srgbClr val="66788A"/>
                </a:solidFill>
                <a:latin typeface="Calibri" pitchFamily="34" charset="0"/>
                <a:ea typeface="Calibri" pitchFamily="34" charset="-122"/>
                <a:cs typeface="Calibri" pitchFamily="34" charset="-120"/>
              </a:rPr>
              <a:t>Seven years of flat growth suggests it's worth studying pricing, competition, or customer acquisition.</a:t>
            </a:r>
            <a:endParaRPr lang="en-US" sz="1200" dirty="0"/>
          </a:p>
        </p:txBody>
      </p:sp>
      <p:sp>
        <p:nvSpPr>
          <p:cNvPr id="22" name="Shape 20"/>
          <p:cNvSpPr/>
          <p:nvPr/>
        </p:nvSpPr>
        <p:spPr>
          <a:xfrm>
            <a:off x="0" y="6784848"/>
            <a:ext cx="12188952" cy="73152"/>
          </a:xfrm>
          <a:prstGeom prst="rect">
            <a:avLst/>
          </a:prstGeom>
          <a:solidFill>
            <a:srgbClr val="0F6E8C"/>
          </a:solidFill>
          <a:ln/>
        </p:spPr>
      </p:sp>
      <p:sp>
        <p:nvSpPr>
          <p:cNvPr id="23" name="Text 21"/>
          <p:cNvSpPr/>
          <p:nvPr/>
        </p:nvSpPr>
        <p:spPr>
          <a:xfrm>
            <a:off x="457200" y="6510528"/>
            <a:ext cx="7315200" cy="256032"/>
          </a:xfrm>
          <a:prstGeom prst="rect">
            <a:avLst/>
          </a:prstGeom>
          <a:noFill/>
          <a:ln/>
        </p:spPr>
        <p:txBody>
          <a:bodyPr wrap="square" rtlCol="0" anchor="ctr"/>
          <a:lstStyle/>
          <a:p>
            <a:pPr marL="0" indent="0" algn="l">
              <a:buNone/>
            </a:pPr>
            <a:r>
              <a:rPr lang="en-US" sz="900" dirty="0">
                <a:solidFill>
                  <a:srgbClr val="66788A"/>
                </a:solidFill>
                <a:latin typeface="Calibri" pitchFamily="34" charset="0"/>
                <a:ea typeface="Calibri" pitchFamily="34" charset="-122"/>
                <a:cs typeface="Calibri" pitchFamily="34" charset="-120"/>
              </a:rPr>
              <a:t>Sales Performance Analysis — Power BI Project</a:t>
            </a:r>
            <a:endParaRPr lang="en-US" sz="900" dirty="0"/>
          </a:p>
        </p:txBody>
      </p:sp>
      <p:sp>
        <p:nvSpPr>
          <p:cNvPr id="24" name="Text 22"/>
          <p:cNvSpPr/>
          <p:nvPr/>
        </p:nvSpPr>
        <p:spPr>
          <a:xfrm>
            <a:off x="11521440" y="6510528"/>
            <a:ext cx="365760" cy="256032"/>
          </a:xfrm>
          <a:prstGeom prst="rect">
            <a:avLst/>
          </a:prstGeom>
          <a:noFill/>
          <a:ln/>
        </p:spPr>
        <p:txBody>
          <a:bodyPr wrap="square" rtlCol="0" anchor="ctr"/>
          <a:lstStyle/>
          <a:p>
            <a:pPr marL="0" indent="0" algn="r">
              <a:buNone/>
            </a:pPr>
            <a:r>
              <a:rPr lang="en-US" sz="900" dirty="0">
                <a:solidFill>
                  <a:srgbClr val="66788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863840" y="0"/>
            <a:ext cx="4325112" cy="6858000"/>
          </a:xfrm>
          <a:prstGeom prst="rect">
            <a:avLst/>
          </a:prstGeom>
          <a:solidFill>
            <a:srgbClr val="0F6E8C"/>
          </a:solidFill>
          <a:ln/>
        </p:spPr>
      </p:sp>
      <p:sp>
        <p:nvSpPr>
          <p:cNvPr id="3" name="Shape 1"/>
          <p:cNvSpPr/>
          <p:nvPr/>
        </p:nvSpPr>
        <p:spPr>
          <a:xfrm>
            <a:off x="7680960" y="0"/>
            <a:ext cx="182880" cy="6858000"/>
          </a:xfrm>
          <a:prstGeom prst="rect">
            <a:avLst/>
          </a:prstGeom>
          <a:solidFill>
            <a:srgbClr val="E08E45"/>
          </a:solidFill>
          <a:ln/>
        </p:spPr>
      </p:sp>
      <p:sp>
        <p:nvSpPr>
          <p:cNvPr id="4" name="Text 2"/>
          <p:cNvSpPr/>
          <p:nvPr/>
        </p:nvSpPr>
        <p:spPr>
          <a:xfrm>
            <a:off x="731520" y="2743200"/>
            <a:ext cx="6400800" cy="914400"/>
          </a:xfrm>
          <a:prstGeom prst="rect">
            <a:avLst/>
          </a:prstGeom>
          <a:noFill/>
          <a:ln/>
        </p:spPr>
        <p:txBody>
          <a:bodyPr wrap="square" rtlCol="0" anchor="ctr"/>
          <a:lstStyle/>
          <a:p>
            <a:pPr marL="0" indent="0">
              <a:buNone/>
            </a:pPr>
            <a:r>
              <a:rPr lang="en-US" sz="4000" b="1" dirty="0">
                <a:solidFill>
                  <a:srgbClr val="16324F"/>
                </a:solidFill>
                <a:latin typeface="Cambria" pitchFamily="34" charset="0"/>
                <a:ea typeface="Cambria" pitchFamily="34" charset="-122"/>
                <a:cs typeface="Cambria" pitchFamily="34" charset="-120"/>
              </a:rPr>
              <a:t>Thank You</a:t>
            </a:r>
            <a:endParaRPr lang="en-US" sz="4000" dirty="0"/>
          </a:p>
        </p:txBody>
      </p:sp>
      <p:sp>
        <p:nvSpPr>
          <p:cNvPr id="5" name="Text 3"/>
          <p:cNvSpPr/>
          <p:nvPr/>
        </p:nvSpPr>
        <p:spPr>
          <a:xfrm>
            <a:off x="731520" y="3520440"/>
            <a:ext cx="5943600" cy="457200"/>
          </a:xfrm>
          <a:prstGeom prst="rect">
            <a:avLst/>
          </a:prstGeom>
          <a:noFill/>
          <a:ln/>
        </p:spPr>
        <p:txBody>
          <a:bodyPr wrap="square" rtlCol="0" anchor="ctr"/>
          <a:lstStyle/>
          <a:p>
            <a:pPr marL="0" indent="0">
              <a:buNone/>
            </a:pPr>
            <a:r>
              <a:rPr lang="en-US" sz="1500" i="1" dirty="0">
                <a:solidFill>
                  <a:srgbClr val="66788A"/>
                </a:solidFill>
                <a:latin typeface="Calibri" pitchFamily="34" charset="0"/>
                <a:ea typeface="Calibri" pitchFamily="34" charset="-122"/>
                <a:cs typeface="Calibri" pitchFamily="34" charset="-120"/>
              </a:rPr>
              <a:t>Questions and discussion are welcome</a:t>
            </a:r>
            <a:endParaRPr lang="en-US" sz="1500" dirty="0"/>
          </a:p>
        </p:txBody>
      </p:sp>
      <p:sp>
        <p:nvSpPr>
          <p:cNvPr id="6" name="Shape 4"/>
          <p:cNvSpPr/>
          <p:nvPr/>
        </p:nvSpPr>
        <p:spPr>
          <a:xfrm>
            <a:off x="731520" y="4160520"/>
            <a:ext cx="1463040" cy="0"/>
          </a:xfrm>
          <a:prstGeom prst="line">
            <a:avLst/>
          </a:prstGeom>
          <a:noFill/>
          <a:ln w="38100">
            <a:solidFill>
              <a:srgbClr val="E08E45"/>
            </a:solidFill>
            <a:prstDash val="solid"/>
          </a:ln>
        </p:spPr>
      </p:sp>
      <p:sp>
        <p:nvSpPr>
          <p:cNvPr id="7" name="Text 5"/>
          <p:cNvSpPr/>
          <p:nvPr/>
        </p:nvSpPr>
        <p:spPr>
          <a:xfrm>
            <a:off x="731520" y="4389120"/>
            <a:ext cx="5486400" cy="640080"/>
          </a:xfrm>
          <a:prstGeom prst="rect">
            <a:avLst/>
          </a:prstGeom>
          <a:noFill/>
          <a:ln/>
        </p:spPr>
        <p:txBody>
          <a:bodyPr wrap="square" rtlCol="0" anchor="ctr"/>
          <a:lstStyle/>
          <a:p>
            <a:pPr marL="0" indent="0">
              <a:lnSpc>
                <a:spcPts val="1700"/>
              </a:lnSpc>
              <a:buNone/>
            </a:pPr>
            <a:r>
              <a:rPr lang="en-US" sz="1200" dirty="0">
                <a:solidFill>
                  <a:srgbClr val="66788A"/>
                </a:solidFill>
                <a:latin typeface="Calibri" pitchFamily="34" charset="0"/>
                <a:ea typeface="Calibri" pitchFamily="34" charset="-122"/>
                <a:cs typeface="Calibri" pitchFamily="34" charset="-120"/>
              </a:rPr>
              <a:t>Sales Performance Analysis Dashboard</a:t>
            </a:r>
            <a:endParaRPr lang="en-US" sz="1200" dirty="0"/>
          </a:p>
          <a:p>
            <a:pPr marL="0" indent="0">
              <a:lnSpc>
                <a:spcPts val="1700"/>
              </a:lnSpc>
              <a:buNone/>
            </a:pPr>
            <a:r>
              <a:rPr lang="en-US" sz="1200" dirty="0">
                <a:solidFill>
                  <a:srgbClr val="66788A"/>
                </a:solidFill>
                <a:latin typeface="Calibri" pitchFamily="34" charset="0"/>
                <a:ea typeface="Calibri" pitchFamily="34" charset="-122"/>
                <a:cs typeface="Calibri" pitchFamily="34" charset="-120"/>
              </a:rPr>
              <a:t>Power BI Project by Jainam</a:t>
            </a:r>
            <a:endParaRPr lang="en-US" sz="1200" dirty="0"/>
          </a:p>
        </p:txBody>
      </p:sp>
      <p:sp>
        <p:nvSpPr>
          <p:cNvPr id="8" name="Text 6"/>
          <p:cNvSpPr/>
          <p:nvPr/>
        </p:nvSpPr>
        <p:spPr>
          <a:xfrm>
            <a:off x="8229600" y="2926080"/>
            <a:ext cx="3474720" cy="320040"/>
          </a:xfrm>
          <a:prstGeom prst="rect">
            <a:avLst/>
          </a:prstGeom>
          <a:noFill/>
          <a:ln/>
        </p:spPr>
        <p:txBody>
          <a:bodyPr wrap="square" rtlCol="0" anchor="ctr"/>
          <a:lstStyle/>
          <a:p>
            <a:pPr marL="0" indent="0">
              <a:buNone/>
            </a:pPr>
            <a:r>
              <a:rPr lang="en-US" sz="1200" b="1" kern="0" spc="150" dirty="0">
                <a:solidFill>
                  <a:srgbClr val="CFE6EE"/>
                </a:solidFill>
                <a:latin typeface="Calibri" pitchFamily="34" charset="0"/>
                <a:ea typeface="Calibri" pitchFamily="34" charset="-122"/>
                <a:cs typeface="Calibri" pitchFamily="34" charset="-120"/>
              </a:rPr>
              <a:t>Reference</a:t>
            </a:r>
            <a:endParaRPr lang="en-US" sz="1200" dirty="0"/>
          </a:p>
        </p:txBody>
      </p:sp>
      <p:sp>
        <p:nvSpPr>
          <p:cNvPr id="9" name="Text 7"/>
          <p:cNvSpPr/>
          <p:nvPr/>
        </p:nvSpPr>
        <p:spPr>
          <a:xfrm>
            <a:off x="8229600" y="3246120"/>
            <a:ext cx="3474720" cy="640080"/>
          </a:xfrm>
          <a:prstGeom prst="rect">
            <a:avLst/>
          </a:prstGeom>
          <a:noFill/>
          <a:ln/>
        </p:spPr>
        <p:txBody>
          <a:bodyPr wrap="square" rtlCol="0" anchor="ctr"/>
          <a:lstStyle/>
          <a:p>
            <a:pPr marL="0" indent="0">
              <a:lnSpc>
                <a:spcPts val="1800"/>
              </a:lnSpc>
              <a:buNone/>
            </a:pPr>
            <a:r>
              <a:rPr lang="en-US" sz="1300" dirty="0">
                <a:solidFill>
                  <a:srgbClr val="FFFFFF"/>
                </a:solidFill>
                <a:latin typeface="Calibri" pitchFamily="34" charset="0"/>
                <a:ea typeface="Calibri" pitchFamily="34" charset="-122"/>
                <a:cs typeface="Calibri" pitchFamily="34" charset="-120"/>
              </a:rPr>
              <a:t>Dataset - Kaggle</a:t>
            </a:r>
            <a:endParaRPr lang="en-US" sz="1300" dirty="0"/>
          </a:p>
          <a:p>
            <a:pPr marL="0" indent="0">
              <a:lnSpc>
                <a:spcPts val="1800"/>
              </a:lnSpc>
              <a:buNone/>
            </a:pPr>
            <a:r>
              <a:rPr lang="en-US" sz="1300" dirty="0">
                <a:solidFill>
                  <a:srgbClr val="FFFFFF"/>
                </a:solidFill>
                <a:latin typeface="Calibri" pitchFamily="34" charset="0"/>
                <a:ea typeface="Calibri" pitchFamily="34" charset="-122"/>
                <a:cs typeface="Calibri" pitchFamily="34" charset="-120"/>
              </a:rPr>
              <a:t>PPT - Claude</a:t>
            </a:r>
            <a:endParaRPr lang="en-US" sz="1300" dirty="0"/>
          </a:p>
        </p:txBody>
      </p:sp>
      <p:sp>
        <p:nvSpPr>
          <p:cNvPr id="10" name="Shape 8"/>
          <p:cNvSpPr/>
          <p:nvPr/>
        </p:nvSpPr>
        <p:spPr>
          <a:xfrm>
            <a:off x="0" y="6784848"/>
            <a:ext cx="12188952" cy="73152"/>
          </a:xfrm>
          <a:prstGeom prst="rect">
            <a:avLst/>
          </a:prstGeom>
          <a:solidFill>
            <a:srgbClr val="0F6E8C"/>
          </a:solidFill>
          <a:ln/>
        </p:spPr>
      </p:sp>
      <p:sp>
        <p:nvSpPr>
          <p:cNvPr id="11" name="Text 9"/>
          <p:cNvSpPr/>
          <p:nvPr/>
        </p:nvSpPr>
        <p:spPr>
          <a:xfrm>
            <a:off x="457200" y="6510528"/>
            <a:ext cx="7315200" cy="256032"/>
          </a:xfrm>
          <a:prstGeom prst="rect">
            <a:avLst/>
          </a:prstGeom>
          <a:noFill/>
          <a:ln/>
        </p:spPr>
        <p:txBody>
          <a:bodyPr wrap="square" rtlCol="0" anchor="ctr"/>
          <a:lstStyle/>
          <a:p>
            <a:pPr marL="0" indent="0" algn="l">
              <a:buNone/>
            </a:pPr>
            <a:r>
              <a:rPr lang="en-US" sz="900" dirty="0">
                <a:solidFill>
                  <a:srgbClr val="66788A"/>
                </a:solidFill>
                <a:latin typeface="Calibri" pitchFamily="34" charset="0"/>
                <a:ea typeface="Calibri" pitchFamily="34" charset="-122"/>
                <a:cs typeface="Calibri" pitchFamily="34" charset="-120"/>
              </a:rPr>
              <a:t>Sales Performance Analysis — Power BI Project</a:t>
            </a:r>
            <a:endParaRPr lang="en-US" sz="900" dirty="0"/>
          </a:p>
        </p:txBody>
      </p:sp>
      <p:sp>
        <p:nvSpPr>
          <p:cNvPr id="12" name="Text 10"/>
          <p:cNvSpPr/>
          <p:nvPr/>
        </p:nvSpPr>
        <p:spPr>
          <a:xfrm>
            <a:off x="11521440" y="6510528"/>
            <a:ext cx="365760" cy="256032"/>
          </a:xfrm>
          <a:prstGeom prst="rect">
            <a:avLst/>
          </a:prstGeom>
          <a:noFill/>
          <a:ln/>
        </p:spPr>
        <p:txBody>
          <a:bodyPr wrap="square" rtlCol="0" anchor="ctr"/>
          <a:lstStyle/>
          <a:p>
            <a:pPr marL="0" indent="0" algn="r">
              <a:buNone/>
            </a:pPr>
            <a:r>
              <a:rPr lang="en-US" sz="900" dirty="0">
                <a:solidFill>
                  <a:srgbClr val="66788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913</Words>
  <Application>Microsoft Office PowerPoint</Application>
  <PresentationFormat>Widescreen</PresentationFormat>
  <Paragraphs>164</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Jainam Panchal</cp:lastModifiedBy>
  <cp:revision>2</cp:revision>
  <dcterms:created xsi:type="dcterms:W3CDTF">2026-08-05T19:54:47Z</dcterms:created>
  <dcterms:modified xsi:type="dcterms:W3CDTF">2026-08-05T20:04:30Z</dcterms:modified>
</cp:coreProperties>
</file>